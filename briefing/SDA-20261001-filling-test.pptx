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537960" cy="685800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37960" y="0"/>
            <a:ext cx="5653735" cy="685800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pt-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0"/>
            <a:ext cx="565373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"/>
            <a:ext cx="5760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D7B48A"/>
                </a:solidFill>
                <a:latin typeface="Microsoft JhengHei"/>
                <a:ea typeface="Microsoft JhengHei"/>
                <a:cs typeface="Microsoft JhengHei"/>
              </a:rPr>
              <a:t>FILLING TEST  ·  ISSUE / ROOT CAUSE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7607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CF7"/>
                </a:solidFill>
                <a:latin typeface="Microsoft JhengHei"/>
                <a:ea typeface="Microsoft JhengHei"/>
                <a:cs typeface="Microsoft JhengHei"/>
              </a:rPr>
              <a:t>SDA 1 L 充填測試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FFFCF7"/>
                </a:solidFill>
                <a:latin typeface="Microsoft JhengHei"/>
                <a:ea typeface="Microsoft JhengHei"/>
                <a:cs typeface="Microsoft JhengHei"/>
              </a:rPr>
              <a:t>第一輪 50 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56692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E6DFD2"/>
                </a:solidFill>
                <a:latin typeface="Microsoft JhengHei"/>
                <a:ea typeface="Microsoft JhengHei"/>
                <a:cs typeface="Microsoft JhengHei"/>
              </a:rPr>
              <a:t>2026/10/01。四個現象是同一件事：有結塊的粉沒有乾淨離開秤斗，所以閘門會堵、壁上會沾，Ishida 秤到的重量沒有全部進袋。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828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C1B4"/>
                </a:solidFill>
                <a:latin typeface="Microsoft JhengHei"/>
                <a:ea typeface="Microsoft JhengHei"/>
                <a:cs typeface="Microsoft JhengHei"/>
              </a:rPr>
              <a:t>名義重量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CF7"/>
                </a:solidFill>
                <a:latin typeface="Microsoft JhengHei"/>
                <a:ea typeface="Microsoft JhengHei"/>
                <a:cs typeface="Microsoft JhengHei"/>
              </a:rPr>
              <a:t>200 g / 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5669280"/>
            <a:ext cx="1828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C1B4"/>
                </a:solidFill>
                <a:latin typeface="Microsoft JhengHei"/>
                <a:ea typeface="Microsoft JhengHei"/>
                <a:cs typeface="Microsoft JhengHei"/>
              </a:rPr>
              <a:t>現場時段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CF7"/>
                </a:solidFill>
                <a:latin typeface="Microsoft JhengHei"/>
                <a:ea typeface="Microsoft JhengHei"/>
                <a:cs typeface="Microsoft JhengHei"/>
              </a:rPr>
              <a:t>09:28 – 11:57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669280"/>
            <a:ext cx="2011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9C1B4"/>
                </a:solidFill>
                <a:latin typeface="Microsoft JhengHei"/>
                <a:ea typeface="Microsoft JhengHei"/>
                <a:cs typeface="Microsoft JhengHei"/>
              </a:rPr>
              <a:t>已排除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CF7"/>
                </a:solidFill>
                <a:latin typeface="Microsoft JhengHei"/>
                <a:ea typeface="Microsoft JhengHei"/>
                <a:cs typeface="Microsoft JhengHei"/>
              </a:rPr>
              <a:t>負荷元、室溫室濕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先排除什麼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測試前，秤與環境都是合格的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0058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這兩個結果把根因從儀器和房間移開。後面的重量差要到粉體路徑上去找。</a:t>
            </a:r>
          </a:p>
        </p:txBody>
      </p:sp>
      <p:pic>
        <p:nvPicPr>
          <p:cNvPr id="6" name="Picture 5" descr="ppt-hob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63040"/>
            <a:ext cx="3017520" cy="4754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11880" y="1463040"/>
            <a:ext cx="4023360" cy="4754880"/>
          </a:xfrm>
          <a:prstGeom prst="rect">
            <a:avLst/>
          </a:prstGeom>
          <a:solidFill>
            <a:srgbClr val="E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1645920"/>
            <a:ext cx="3703320" cy="4389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6B45"/>
                </a:solidFill>
                <a:latin typeface="Microsoft JhengHei"/>
                <a:ea typeface="Microsoft JhengHei"/>
                <a:cs typeface="Microsoft JhengHei"/>
              </a:rPr>
              <a:t>環境 · 規格內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20.67°C    31.6% RH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溫度規格 19–27°C，讀值在中間。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濕度規格 30–40% RH。31.6% 合格，距下限只有 1.6 個百分點，屬於偏乾的一側。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記錄器正在 MEMORY / LOGGING。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室濕沒有超規，不能把沾料解釋成房間太濕。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1463040"/>
            <a:ext cx="3977639" cy="4754880"/>
          </a:xfrm>
          <a:prstGeom prst="rect">
            <a:avLst/>
          </a:prstGeom>
          <a:solidFill>
            <a:srgbClr val="E7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45920"/>
            <a:ext cx="3657600" cy="4389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0E6B45"/>
                </a:solidFill>
                <a:latin typeface="Microsoft JhengHei"/>
                <a:ea typeface="Microsoft JhengHei"/>
                <a:cs typeface="Microsoft JhengHei"/>
              </a:rPr>
              <a:t>ISHIDA · 測試前合格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Unit 5，600 g 校正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重量確認 200 g、400 g、600 g，結果合格。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200 g 就是這一輪的名義袋重，靜態砝碼過得了。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前三袋和 MT 對不上，不是這一顆負荷元沒校正。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校正對的是砝碼。結塊、沾壁、落料不完整，砝碼測不到。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SDA 1L · 2026/10/01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左：問題          右：根因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51560"/>
            <a:ext cx="384048" cy="123444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435607"/>
            <a:ext cx="3840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CF7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" y="1051560"/>
            <a:ext cx="5486400" cy="1234440"/>
          </a:xfrm>
          <a:prstGeom prst="rect">
            <a:avLst/>
          </a:prstGeom>
          <a:solidFill>
            <a:srgbClr val="F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106424"/>
            <a:ext cx="5257800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9A3B12"/>
                </a:solidFill>
                <a:latin typeface="Microsoft JhengHei"/>
                <a:ea typeface="Microsoft JhengHei"/>
                <a:cs typeface="Microsoft JhengHei"/>
              </a:rPr>
              <a:t>前三袋，Ishida 與 MT 重量不一致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Ishida 明細 203.4、200.9、201.1 g。第 1 袋比 200 g 重 3.4 g，是 50 袋裡唯一超過 +2 g 的點。第 2、第 3 袋已回到這一批的正常帶。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4496" y="1051560"/>
            <a:ext cx="5532120" cy="12344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106424"/>
            <a:ext cx="5303520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4D78"/>
                </a:solidFill>
                <a:latin typeface="Microsoft JhengHei"/>
                <a:ea typeface="Microsoft JhengHei"/>
                <a:cs typeface="Microsoft JhengHei"/>
              </a:rPr>
              <a:t>秤斗裡的粉沒有全部進袋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結塊與沾壁讓 Ishida 已扣掉的重量，和 MT 秤到的袋重差一塊殘留。第 1 袋另外帶了啟動時一次掉下的殘料。MT 三筆讀值這包資料沒有，差值還算不出來。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377439"/>
            <a:ext cx="384048" cy="123444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761487"/>
            <a:ext cx="3840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CF7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2377439"/>
            <a:ext cx="5486400" cy="1234440"/>
          </a:xfrm>
          <a:prstGeom prst="rect">
            <a:avLst/>
          </a:prstGeom>
          <a:solidFill>
            <a:srgbClr val="F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2432303"/>
            <a:ext cx="5257800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9A3B12"/>
                </a:solidFill>
                <a:latin typeface="Microsoft JhengHei"/>
                <a:ea typeface="Microsoft JhengHei"/>
                <a:cs typeface="Microsoft JhengHei"/>
              </a:rPr>
              <a:t>SDA 結塊堵在 cut gate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現場把振動時間加長。影片沒有拍到閘門卡住的瞬間，拍到的是閘門上游的秤斗裡已經有硬塊。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2377439"/>
            <a:ext cx="5532120" cy="12344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432303"/>
            <a:ext cx="5303520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4D78"/>
                </a:solidFill>
                <a:latin typeface="Microsoft JhengHei"/>
                <a:ea typeface="Microsoft JhengHei"/>
                <a:cs typeface="Microsoft JhengHei"/>
              </a:rPr>
              <a:t>硬塊在閘口搭橋，原振動時間不夠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原料裡的塊不容易過閘，細粉又黏，塊一座住就搭橋。加長振動可以把這一輪的橋震開，但不會把原料裡的塊清掉。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703320"/>
            <a:ext cx="384048" cy="123444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4087368"/>
            <a:ext cx="3840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CF7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3703320"/>
            <a:ext cx="5486400" cy="1234440"/>
          </a:xfrm>
          <a:prstGeom prst="rect">
            <a:avLst/>
          </a:prstGeom>
          <a:solidFill>
            <a:srgbClr val="F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758183"/>
            <a:ext cx="5257800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9A3B12"/>
                </a:solidFill>
                <a:latin typeface="Microsoft JhengHei"/>
                <a:ea typeface="Microsoft JhengHei"/>
                <a:cs typeface="Microsoft JhengHei"/>
              </a:rPr>
              <a:t>粉沾在 cut gate 與 weight hopper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11:57 拆下的落料槽，上半仍是鏡面，中線以下是霧面膜，角落最厚。進料護網右側網緣也結了一圈粉。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3703320"/>
            <a:ext cx="5532120" cy="12344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3758183"/>
            <a:ext cx="5303520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4D78"/>
                </a:solidFill>
                <a:latin typeface="Microsoft JhengHei"/>
                <a:ea typeface="Microsoft JhengHei"/>
                <a:cs typeface="Microsoft JhengHei"/>
              </a:rPr>
              <a:t>黏性細粉被硬塊抹在不鏽鋼上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膜一旦形成，下一劑黏的是那層膜。通道上沒有看到敲擊或氣刀。室濕在規格內且偏乾，照片是乾膜，不是房間結露。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5029200"/>
            <a:ext cx="384048" cy="123444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5413248"/>
            <a:ext cx="384048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CF7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8096" y="5029200"/>
            <a:ext cx="5486400" cy="1234440"/>
          </a:xfrm>
          <a:prstGeom prst="rect">
            <a:avLst/>
          </a:prstGeom>
          <a:solidFill>
            <a:srgbClr val="F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084064"/>
            <a:ext cx="5257800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9A3B12"/>
                </a:solidFill>
                <a:latin typeface="Microsoft JhengHei"/>
                <a:ea typeface="Microsoft JhengHei"/>
                <a:cs typeface="Microsoft JhengHei"/>
              </a:rPr>
              <a:t>原料有結塊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測試前已完成 Unit 5 / 600 g 校正，以及 200、400、600 g 確認，結果合格。結塊是在合格之後、粉一進秤斗就看見的。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54496" y="5029200"/>
            <a:ext cx="5532120" cy="12344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64224" y="5084064"/>
            <a:ext cx="5303520" cy="11155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1E4D78"/>
                </a:solidFill>
                <a:latin typeface="Microsoft JhengHei"/>
                <a:ea typeface="Microsoft JhengHei"/>
                <a:cs typeface="Microsoft JhengHei"/>
              </a:rPr>
              <a:t>結塊是原料帶進來的，問題從這裡開始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硬塊停在秤斗粉面上方，還沒有到 cut gate。它是問題 1 到 3 的共同起點：塊去堵閘，碎塊去抹壁，殘留造成兩台秤不一樣。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10528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名義目標 200 g · 明細見第 6 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一條鏈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四個問題怎麼串在一起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87552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校正與環境停在鏈的外面。它們合格，所以沒有放進這五步。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1371600"/>
            <a:ext cx="2212848" cy="15544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444752"/>
            <a:ext cx="20299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3B12"/>
                </a:solidFill>
                <a:latin typeface="Microsoft JhengHei"/>
                <a:ea typeface="Microsoft JhengHei"/>
                <a:cs typeface="Microsoft JhengHei"/>
              </a:rPr>
              <a:t>01 原料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秤斗裡就有硬塊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影片裡塊在粉面上，形狀完整，不是閘門切出來的。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2724912" y="1371600"/>
            <a:ext cx="2212848" cy="15544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6352" y="1444752"/>
            <a:ext cx="20299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3B12"/>
                </a:solidFill>
                <a:latin typeface="Microsoft JhengHei"/>
                <a:ea typeface="Microsoft JhengHei"/>
                <a:cs typeface="Microsoft JhengHei"/>
              </a:rPr>
              <a:t>02 閘門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塊在 cut gate 搭橋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現場紀錄。原振動時間打不開這座橋。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65776" y="1371600"/>
            <a:ext cx="2212848" cy="15544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57216" y="1444752"/>
            <a:ext cx="20299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3B12"/>
                </a:solidFill>
                <a:latin typeface="Microsoft JhengHei"/>
                <a:ea typeface="Microsoft JhengHei"/>
                <a:cs typeface="Microsoft JhengHei"/>
              </a:rPr>
              <a:t>03 處置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振動時間加長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能把橋震開。也會把黏粉再抹開，不能取代過篩。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1371600"/>
            <a:ext cx="2212848" cy="15544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1444752"/>
            <a:ext cx="20299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3B12"/>
                </a:solidFill>
                <a:latin typeface="Microsoft JhengHei"/>
                <a:ea typeface="Microsoft JhengHei"/>
                <a:cs typeface="Microsoft JhengHei"/>
              </a:rPr>
              <a:t>04 沾料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閘門與秤斗留膜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11:57 落料槽下半段，以及護網網緣。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47504" y="1371600"/>
            <a:ext cx="2212848" cy="15544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38944" y="1444752"/>
            <a:ext cx="2029968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A3B12"/>
                </a:solidFill>
                <a:latin typeface="Microsoft JhengHei"/>
                <a:ea typeface="Microsoft JhengHei"/>
                <a:cs typeface="Microsoft JhengHei"/>
              </a:rPr>
              <a:t>05 袋重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Ishida ≠ MT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第 1 袋 203.4 g。其後 49 袋收斂到 200.98 g。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090672"/>
            <a:ext cx="11430000" cy="77724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3182112"/>
            <a:ext cx="11155680" cy="6217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FCF7"/>
                </a:solidFill>
                <a:latin typeface="Microsoft JhengHei"/>
                <a:ea typeface="Microsoft JhengHei"/>
                <a:cs typeface="Microsoft JhengHei"/>
              </a:rPr>
              <a:t>負荷元回答的是「斗裡現在有多重」。MT 回答的是「袋裡最後有多重」。中間有粉留下，兩個數字就會分開。</a:t>
            </a:r>
          </a:p>
        </p:txBody>
      </p:sp>
      <p:pic>
        <p:nvPicPr>
          <p:cNvPr id="18" name="Picture 17" descr="ppt-lumps-w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023360"/>
            <a:ext cx="3657600" cy="2286000"/>
          </a:xfrm>
          <a:prstGeom prst="rect">
            <a:avLst/>
          </a:prstGeom>
        </p:spPr>
      </p:pic>
      <p:pic>
        <p:nvPicPr>
          <p:cNvPr id="19" name="Picture 18" descr="ppt-gra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528" y="4023360"/>
            <a:ext cx="3657600" cy="2286000"/>
          </a:xfrm>
          <a:prstGeom prst="rect">
            <a:avLst/>
          </a:prstGeom>
        </p:spPr>
      </p:pic>
      <p:pic>
        <p:nvPicPr>
          <p:cNvPr id="20" name="Picture 19" descr="ppt-chut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4023360"/>
            <a:ext cx="3749039" cy="228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65760" y="6510528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已做的處置只覆蓋第 03 步 · 影片請用網頁版播放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ISSUE 1 · 重量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前三袋對不上，離群的是第 1 袋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97280"/>
            <a:ext cx="2240280" cy="777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52144"/>
            <a:ext cx="20574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203.4 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第 1 袋，比目標 +3.4 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24912" y="1097280"/>
            <a:ext cx="2240280" cy="777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16352" y="1152144"/>
            <a:ext cx="20574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200.9 / 201.1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第 2、第 3 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65776" y="1097280"/>
            <a:ext cx="2240280" cy="777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57216" y="1152144"/>
            <a:ext cx="20574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201.03 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50 袋平均，標準差 0.60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097280"/>
            <a:ext cx="2240280" cy="777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1152144"/>
            <a:ext cx="20574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200.98 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去掉第 1 袋，標準差 0.50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47504" y="1097280"/>
            <a:ext cx="2240280" cy="777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38944" y="1152144"/>
            <a:ext cx="205740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49 / 50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落在 200 ± 2 g 以內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011680"/>
            <a:ext cx="5669280" cy="4297680"/>
          </a:xfrm>
          <a:prstGeom prst="rect">
            <a:avLst/>
          </a:prstGeom>
          <a:solidFill>
            <a:srgbClr val="F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121408"/>
            <a:ext cx="5394960" cy="4069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3B12"/>
                </a:solidFill>
                <a:latin typeface="Microsoft JhengHei"/>
                <a:ea typeface="Microsoft JhengHei"/>
                <a:cs typeface="Microsoft JhengHei"/>
              </a:rPr>
              <a:t>ISSUE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前三袋用 Ishida 與 MT 各秤一次，兩邊數字不一樣。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Ishida 這一側：203.4、200.9、201.1 g。前三袋平均 201.80 g；第 4 到第 50 袋平均 200.98 g。差距幾乎全部來自第 1 袋。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全距 4.0 g（199.4–203.4）。低於 200 g 的只有第 5 袋 199.8 g、第 6 袋 199.4 g。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畫面 Average、S.D.、MAX、MIN、Range 都是 0，那一欄沒有計算。統計依 50 筆明細重算。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T.Weight 11.2 kg、T.Count 56。50 袋合計 10.052 kg。多出的 6 次沒有袋號。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CLR 10:44，機器時間 11:38，照片時間 11:27。書面公差沒有提供，這裡只描述對 200 g 的分布。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011680"/>
            <a:ext cx="5577840" cy="42976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2121408"/>
            <a:ext cx="5303520" cy="4069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4D78"/>
                </a:solidFill>
                <a:latin typeface="Microsoft JhengHei"/>
                <a:ea typeface="Microsoft JhengHei"/>
                <a:cs typeface="Microsoft JhengHei"/>
              </a:rPr>
              <a:t>ROOT CAUSE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看見了：第 1 袋明顯偏重；落料槽與護網有殘留；秤斗粉面有硬塊。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推論：Ishida 在放料前就把斗內重量算進這一袋。粉若黏在 cut gate 或斗壁，MT 就少掉那一塊；下一袋把殘料抖下來，就變成多。第 1 袋 +3.4 g 符合啟動時積住的料一次掉下。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推論：第 2、第 3 袋若 MT 仍對不上，比較像固定偏差，空袋皮重不一致，或每一袋留下一層薄膜。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還缺：MT 三筆讀值、空袋皮重、兩台秤是不是同一袋。沒有這三項，差值的克數不能寫死。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排除：Unit 5 在 600 g 校正過，200 / 400 / 600 g 確認合格。負荷元不是根因。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10528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明細與曲線在下一頁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ISSUE 1 · 50 袋明細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啟動一袋偏高，之後貼著 201 g</a:t>
            </a:r>
          </a:p>
        </p:txBody>
      </p:sp>
      <p:pic>
        <p:nvPicPr>
          <p:cNvPr id="5" name="Picture 4" descr="sda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1152144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3931920"/>
            <a:ext cx="11338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橘點高於 201.5 g。藍點低於 200 g，只有第 5、第 6 袋。橘線是 200 g。相對 200 g：±1 g 有 31 袋（62%），±2 g 有 49 袋（98%）。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4251960"/>
            <a:ext cx="1143000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01 203.4   02 200.9   03 201.1   04 200.3   05 199.8   06 199.4   07 201.0   08 201.5   09 200.8   10 201.1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11 201.8   12 200.4   13 201.2   14 200.8   15 200.7   16 200.7   17 201.0   18 201.0   19 200.9   20 201.4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21 200.6   22 200.9   23 201.0   24 201.1   25 201.1   26 200.6   27 201.6   28 201.4   29 201.6   30 202.0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31 201.6   32 202.0   33 201.8   34 201.6   35 201.4   36 201.0   37 200.9   38 200.7   39 201.2   40 200.8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41 201.0   42 200.8   43 200.8   44 200.6   45 200.8   46 200.6   47 200.8   48 200.7   49 200.6   50 200.8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10528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來源：Ishida 3 Log 1 window。統計欄為 0，未採用。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ISSUE 2 · CUT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結塊堵閘。振動加長是臨時處置，不是根因對策</a:t>
            </a:r>
          </a:p>
        </p:txBody>
      </p:sp>
      <p:pic>
        <p:nvPicPr>
          <p:cNvPr id="5" name="Picture 4" descr="ppt-lumps-t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2880360" cy="5120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383280" y="1143000"/>
            <a:ext cx="4206240" cy="5120640"/>
          </a:xfrm>
          <a:prstGeom prst="rect">
            <a:avLst/>
          </a:prstGeom>
          <a:solidFill>
            <a:srgbClr val="F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280160"/>
            <a:ext cx="3931920" cy="4846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3B12"/>
                </a:solidFill>
                <a:latin typeface="Microsoft JhengHei"/>
                <a:ea typeface="Microsoft JhengHei"/>
                <a:cs typeface="Microsoft JhengHei"/>
              </a:rPr>
              <a:t>ISSUE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SDA 結塊堵在 cut gate。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現場已把振動時間加長，用來把堵住的料送出去。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左圖是秤斗粉面上的硬塊。塊的邊緣清楚，沒有跟著細粉攤平。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影片約 6 秒，機器是停的，沒有拍到閘門卡住的那一下。卡住是現場紀錄。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影片檔：media/lumps.mp4，網頁版可直接播放。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143000"/>
            <a:ext cx="4069080" cy="51206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280160"/>
            <a:ext cx="3794760" cy="4846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4D78"/>
                </a:solidFill>
                <a:latin typeface="Microsoft JhengHei"/>
                <a:ea typeface="Microsoft JhengHei"/>
                <a:cs typeface="Microsoft JhengHei"/>
              </a:rPr>
              <a:t>ROOT CAUSE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看見了：硬塊在進閘之前就在秤斗裡。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推論：細粉有黏性，填進塊和閘口的縫，搭成一座橋。後面的料下不來，閘也關不乾淨。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推論：原來的振動時間短於把這一批的橋震開所需要的時間。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限度：加長振動不減少原料裡的塊。時間太長，斗裡的料會被多送，黏粉會被再抹開。11:27 的 50 筆看不出是改參數之前還是之後。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改完之後要另跑一輪，確認第 1 袋不再是 203.4 g。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影片 VID-20261001-WA0006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ISSUE 3 · 沾料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粉黏在落料路徑上，留下的就是袋重差</a:t>
            </a:r>
          </a:p>
        </p:txBody>
      </p:sp>
      <p:pic>
        <p:nvPicPr>
          <p:cNvPr id="5" name="Picture 4" descr="ppt-chute-t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3200400" cy="4160520"/>
          </a:xfrm>
          <a:prstGeom prst="rect">
            <a:avLst/>
          </a:prstGeom>
        </p:spPr>
      </p:pic>
      <p:pic>
        <p:nvPicPr>
          <p:cNvPr id="6" name="Picture 5" descr="ppt-grate-ta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143000"/>
            <a:ext cx="301752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5349240"/>
            <a:ext cx="630936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左：11:57 落料槽，上半鏡面，中線以下是膜。右：護網右側網緣結粉。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護網影片 media/grate.mp4，約 10 秒，網頁版可播放。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1143000"/>
            <a:ext cx="4892040" cy="51206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1280160"/>
            <a:ext cx="4617720" cy="4846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4D78"/>
                </a:solidFill>
                <a:latin typeface="Microsoft JhengHei"/>
                <a:ea typeface="Microsoft JhengHei"/>
                <a:cs typeface="Microsoft JhengHei"/>
              </a:rPr>
              <a:t>ROOT CAUSE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看見了：殘留是抹上去的膜。上半還沒有、下半整片發霧，粉是沿著流動的下半段被抹開。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推論：硬塊過閘口時被擠碎，把黏的細粉塗在金屬上。膜形成後，新的粉黏著膜。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看見了：護網只在一側結粉。料在那一側停過。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排除：HOBO 31.6% RH，在 30–40% 內且偏乾。槽壁沒有水珠。房間濕度不是這層膜的原因。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還要查：原料水分，以及清潔後槽是否完全乾。進料前先拍一張空槽。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這層膜就是 Issue 1 的機制：斗裡秤到的克數，有一部分沒有進袋。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落料槽 11:57 · 護網影片 VID-20261001-WA0004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ISSUE 4 · 原料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結塊在秤斗裡就看見了。校正合格，所以原因在料</a:t>
            </a:r>
          </a:p>
        </p:txBody>
      </p:sp>
      <p:pic>
        <p:nvPicPr>
          <p:cNvPr id="5" name="Picture 4" descr="ppt-lumps-w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3017520" cy="5120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66160" y="1143000"/>
            <a:ext cx="4114800" cy="5120640"/>
          </a:xfrm>
          <a:prstGeom prst="rect">
            <a:avLst/>
          </a:prstGeom>
          <a:solidFill>
            <a:srgbClr val="F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280160"/>
            <a:ext cx="3840480" cy="4846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A3B12"/>
                </a:solidFill>
                <a:latin typeface="Microsoft JhengHei"/>
                <a:ea typeface="Microsoft JhengHei"/>
                <a:cs typeface="Microsoft JhengHei"/>
              </a:rPr>
              <a:t>ISSUE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原料有結塊。硬塊是立方和片狀，停在細粉錐上面，沒有陷進去。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這是進 cut gate 之前的狀態。塊不是閘門製造出來的。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同一天、測試開始前，Ishida 已做完兩件事且合格：Unit 5 以 600 g 校正；200、400、600 g 重量確認。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1143000"/>
            <a:ext cx="3977639" cy="512064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280160"/>
            <a:ext cx="3703320" cy="4846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4D78"/>
                </a:solidFill>
                <a:latin typeface="Microsoft JhengHei"/>
                <a:ea typeface="Microsoft JhengHei"/>
                <a:cs typeface="Microsoft JhengHei"/>
              </a:rPr>
              <a:t>ROOT CAUSE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看見了：結塊進系統時就是塊。秤斗沒有把它們打碎。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看見了：靜態砝碼在 200、400、600 g 都合格。同一台秤，砝碼過、實粉不過，差在粉的流動。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推論：這一批原料沒有在進 Ishida 之前過篩或碎塊。振動時間是閘門堵住之後才加的，屬於下游補救。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共同原因：問題 1、2、3 都從這裡出去。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校正為現場紀錄 · 結塊為影片 WA0006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已經做的，和還沒有堵住根因的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143000"/>
            <a:ext cx="5623560" cy="41605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303520" cy="3886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E6B45"/>
                </a:solidFill>
                <a:latin typeface="Microsoft JhengHei"/>
                <a:ea typeface="Microsoft JhengHei"/>
                <a:cs typeface="Microsoft JhengHei"/>
              </a:rPr>
              <a:t>這一輪已經做了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Unit 5 以 600 g 校正，200 / 400 / 600 g 確認合格。負荷元排除了。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Cut gate 被堵住之後，振動時間已加長。這是臨時處置。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環境有記錄：20.67°C、31.6% RH，在規格內。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50 袋 Ishida 明細有留下。畫面統計欄是 0，以後以明細為準。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143000"/>
            <a:ext cx="5623560" cy="416052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280160"/>
            <a:ext cx="5303520" cy="3886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9A3B12"/>
                </a:solidFill>
                <a:latin typeface="Microsoft JhengHei"/>
                <a:ea typeface="Microsoft JhengHei"/>
                <a:cs typeface="Microsoft JhengHei"/>
              </a:rPr>
              <a:t>下一輪開始前要補上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1  原料進斗前過篩或碎塊。振動時間取代不了這一步。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2  清潔後、進料前先拍空的落料槽和秤斗。10 袋後再看膜是否回來。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3  同一袋同時記 Ishida 與 MT，寫下空袋皮重，至少前 10 袋。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4  改完振動後重跑，確認沒有再出現 203.4 g 這種啟動袋。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5  把 T.Count 56 和 50 袋對上，寫明多出的 6 次是什麼。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6  批記錄加上結塊狀況與原料水分。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5440680"/>
            <a:ext cx="11411712" cy="868680"/>
          </a:xfrm>
          <a:prstGeom prst="rect">
            <a:avLst/>
          </a:prstGeom>
          <a:solidFill>
            <a:srgbClr val="1B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11109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CF7"/>
                </a:solidFill>
                <a:latin typeface="Microsoft JhengHei"/>
                <a:ea typeface="Microsoft JhengHei"/>
                <a:cs typeface="Microsoft JhengHei"/>
              </a:rPr>
              <a:t>下一輪只看兩件事：第 1 袋不再離群；同一袋扣掉空袋皮重之後，Ishida 和 MT 的差，要對得上閘門上留下的那一層粉。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10528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臨時處置不等於根因已經關閉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01168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證據與界限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420624"/>
            <a:ext cx="113385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這份簡報用了什麼、沒有用什麼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97280"/>
            <a:ext cx="5669280" cy="5212080"/>
          </a:xfrm>
          <a:prstGeom prst="rect">
            <a:avLst/>
          </a:prstGeom>
          <a:solidFill>
            <a:srgbClr val="FF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34440"/>
            <a:ext cx="5394960" cy="4937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9A3B12"/>
                </a:solidFill>
                <a:latin typeface="Microsoft JhengHei"/>
                <a:ea typeface="Microsoft JhengHei"/>
                <a:cs typeface="Microsoft JhengHei"/>
              </a:rPr>
              <a:t>用了的證據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充填線照片，2026/10/01 09:28。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HOBO：20.67°C、31.6% RH。規格 19–27°C、30–40%。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Ishida 袋號 1–50，T.Weight 11.2 kg，T.Count 56，CLR 10:44，機器時間 11:38。統計欄為 0，已改以明細重算。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落料槽內壁，11:57。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影片 WA0006，6 秒，秤斗內結塊。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影片 WA0004，10 秒，護網結粉。約第 3 秒有一句聽起來像「下料」，背景很吵，不當成正式紀錄。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現場口述：前三袋兩秤不一致；結塊堵閘後加長振動；粉沾 cut gate 與秤斗；測試前校正與三點確認合格。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577840" cy="5212080"/>
          </a:xfrm>
          <a:prstGeom prst="rect">
            <a:avLst/>
          </a:prstGeom>
          <a:solidFill>
            <a:srgbClr val="EE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4224" y="1234440"/>
            <a:ext cx="5303520" cy="4937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E4D78"/>
                </a:solidFill>
                <a:latin typeface="Microsoft JhengHei"/>
                <a:ea typeface="Microsoft JhengHei"/>
                <a:cs typeface="Microsoft JhengHei"/>
              </a:rPr>
              <a:t>故意沒有寫死的部分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MT 的三筆克數。照片和影片都沒有，相差幾克不猜。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振動時間改前、改後的秒數，以及 11:27 的 50 筆是改前還是改後。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袋重書面公差。沒有規格，就不把 201.03 g 判成合格或不合格。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T.Count 56 比 50 袋多出的 6 次是什麼。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落料槽下半的細點是粉還是清潔水跡。需要進料前的空槽照片。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兩支影片都是停機狀態，沒有拍到閘門堵住，也沒有拍到加長振動之後的落料。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C1915"/>
                </a:solidFill>
                <a:latin typeface="Microsoft JhengHei"/>
                <a:ea typeface="Microsoft JhengHei"/>
                <a:cs typeface="Microsoft JhengHei"/>
              </a:rPr>
              <a:t>50 袋合計 10,051.6 g。平均 201.032 g，標準差 0.600 g，中位數 200.95 g。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8229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2026/10/01 SDA 1 L 第一輪 · 問題與根因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10528"/>
            <a:ext cx="13716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584F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2026/10/01 SDA 1L 充填測試 問題與根因</dc:title>
  <dc:subject>第一輪 50 袋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