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37960" cy="685800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37960" y="0"/>
            <a:ext cx="5653735" cy="685800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pt-line.jpg"/>
          <p:cNvPicPr>
            <a:picLocks noChangeAspect="1"/>
          </p:cNvPicPr>
          <p:nvPr/>
        </p:nvPicPr>
        <p:blipFill>
          <a:blip r:embed="rId2"/>
          <a:stretch>
            <a:fillRect/>
          </a:stretch>
        </p:blipFill>
        <p:spPr>
          <a:xfrm>
            <a:off x="6537960" y="0"/>
            <a:ext cx="5653735" cy="6858000"/>
          </a:xfrm>
          <a:prstGeom prst="rect">
            <a:avLst/>
          </a:prstGeom>
        </p:spPr>
      </p:pic>
      <p:sp>
        <p:nvSpPr>
          <p:cNvPr id="5" name="TextBox 4"/>
          <p:cNvSpPr txBox="1"/>
          <p:nvPr/>
        </p:nvSpPr>
        <p:spPr>
          <a:xfrm>
            <a:off x="457200" y="640080"/>
            <a:ext cx="5760720" cy="274320"/>
          </a:xfrm>
          <a:prstGeom prst="rect">
            <a:avLst/>
          </a:prstGeom>
          <a:noFill/>
        </p:spPr>
        <p:txBody>
          <a:bodyPr wrap="square" anchor="t"/>
          <a:lstStyle/>
          <a:p>
            <a:pPr algn="l">
              <a:spcBef>
                <a:spcPts val="0"/>
              </a:spcBef>
              <a:spcAft>
                <a:spcPts val="400"/>
              </a:spcAft>
            </a:pPr>
            <a:r>
              <a:rPr sz="1200" b="1">
                <a:solidFill>
                  <a:srgbClr val="D7B48A"/>
                </a:solidFill>
                <a:latin typeface="Calibri"/>
                <a:ea typeface="Calibri"/>
                <a:cs typeface="Calibri"/>
              </a:rPr>
              <a:t>FILLING TEST  ·  ISSUE / ROOT CAUSE</a:t>
            </a:r>
          </a:p>
        </p:txBody>
      </p:sp>
      <p:sp>
        <p:nvSpPr>
          <p:cNvPr id="6" name="TextBox 5"/>
          <p:cNvSpPr txBox="1"/>
          <p:nvPr/>
        </p:nvSpPr>
        <p:spPr>
          <a:xfrm>
            <a:off x="457200" y="1371600"/>
            <a:ext cx="5760720" cy="1920240"/>
          </a:xfrm>
          <a:prstGeom prst="rect">
            <a:avLst/>
          </a:prstGeom>
          <a:noFill/>
        </p:spPr>
        <p:txBody>
          <a:bodyPr wrap="square" anchor="t"/>
          <a:lstStyle/>
          <a:p>
            <a:pPr algn="l">
              <a:spcBef>
                <a:spcPts val="0"/>
              </a:spcBef>
              <a:spcAft>
                <a:spcPts val="0"/>
              </a:spcAft>
            </a:pPr>
            <a:r>
              <a:rPr sz="3600" b="1">
                <a:solidFill>
                  <a:srgbClr val="FFFCF7"/>
                </a:solidFill>
                <a:latin typeface="Calibri"/>
                <a:ea typeface="Calibri"/>
                <a:cs typeface="Calibri"/>
              </a:rPr>
              <a:t>SDA 1 L filling test</a:t>
            </a:r>
          </a:p>
          <a:p>
            <a:pPr algn="l">
              <a:spcBef>
                <a:spcPts val="0"/>
              </a:spcBef>
              <a:spcAft>
                <a:spcPts val="400"/>
              </a:spcAft>
            </a:pPr>
            <a:r>
              <a:rPr sz="3600" b="1">
                <a:solidFill>
                  <a:srgbClr val="FFFCF7"/>
                </a:solidFill>
                <a:latin typeface="Calibri"/>
                <a:ea typeface="Calibri"/>
                <a:cs typeface="Calibri"/>
              </a:rPr>
              <a:t>First run, 50 bags</a:t>
            </a:r>
          </a:p>
        </p:txBody>
      </p:sp>
      <p:sp>
        <p:nvSpPr>
          <p:cNvPr id="7" name="TextBox 6"/>
          <p:cNvSpPr txBox="1"/>
          <p:nvPr/>
        </p:nvSpPr>
        <p:spPr>
          <a:xfrm>
            <a:off x="457200" y="3474720"/>
            <a:ext cx="5669280" cy="1463040"/>
          </a:xfrm>
          <a:prstGeom prst="rect">
            <a:avLst/>
          </a:prstGeom>
          <a:noFill/>
        </p:spPr>
        <p:txBody>
          <a:bodyPr wrap="square" anchor="t"/>
          <a:lstStyle/>
          <a:p>
            <a:pPr algn="l">
              <a:spcBef>
                <a:spcPts val="0"/>
              </a:spcBef>
              <a:spcAft>
                <a:spcPts val="400"/>
              </a:spcAft>
            </a:pPr>
            <a:r>
              <a:rPr sz="1600" b="0">
                <a:solidFill>
                  <a:srgbClr val="E6DFD2"/>
                </a:solidFill>
                <a:latin typeface="Calibri"/>
                <a:ea typeface="Calibri"/>
                <a:cs typeface="Calibri"/>
              </a:rPr>
              <a:t>1 October 2026. All four findings are one event: lumpy powder did not leave the weigh hopper cleanly, so the gate blocked, the walls filmed over, and the weight Ishida counted did not all reach the bag.</a:t>
            </a:r>
          </a:p>
        </p:txBody>
      </p:sp>
      <p:sp>
        <p:nvSpPr>
          <p:cNvPr id="8" name="TextBox 7"/>
          <p:cNvSpPr txBox="1"/>
          <p:nvPr/>
        </p:nvSpPr>
        <p:spPr>
          <a:xfrm>
            <a:off x="457200" y="5623560"/>
            <a:ext cx="1828800" cy="640080"/>
          </a:xfrm>
          <a:prstGeom prst="rect">
            <a:avLst/>
          </a:prstGeom>
          <a:noFill/>
        </p:spPr>
        <p:txBody>
          <a:bodyPr wrap="square" anchor="t"/>
          <a:lstStyle/>
          <a:p>
            <a:pPr algn="l">
              <a:spcBef>
                <a:spcPts val="0"/>
              </a:spcBef>
              <a:spcAft>
                <a:spcPts val="0"/>
              </a:spcAft>
            </a:pPr>
            <a:r>
              <a:rPr sz="1200" b="0">
                <a:solidFill>
                  <a:srgbClr val="C9C1B4"/>
                </a:solidFill>
                <a:latin typeface="Calibri"/>
                <a:ea typeface="Calibri"/>
                <a:cs typeface="Calibri"/>
              </a:rPr>
              <a:t>Nominal weight</a:t>
            </a:r>
          </a:p>
          <a:p>
            <a:pPr algn="l">
              <a:spcBef>
                <a:spcPts val="0"/>
              </a:spcBef>
              <a:spcAft>
                <a:spcPts val="400"/>
              </a:spcAft>
            </a:pPr>
            <a:r>
              <a:rPr sz="1600" b="1">
                <a:solidFill>
                  <a:srgbClr val="FFFCF7"/>
                </a:solidFill>
                <a:latin typeface="Calibri"/>
                <a:ea typeface="Calibri"/>
                <a:cs typeface="Calibri"/>
              </a:rPr>
              <a:t>200 g / bag</a:t>
            </a:r>
          </a:p>
        </p:txBody>
      </p:sp>
      <p:sp>
        <p:nvSpPr>
          <p:cNvPr id="9" name="TextBox 8"/>
          <p:cNvSpPr txBox="1"/>
          <p:nvPr/>
        </p:nvSpPr>
        <p:spPr>
          <a:xfrm>
            <a:off x="2377440" y="5623560"/>
            <a:ext cx="1828800" cy="640080"/>
          </a:xfrm>
          <a:prstGeom prst="rect">
            <a:avLst/>
          </a:prstGeom>
          <a:noFill/>
        </p:spPr>
        <p:txBody>
          <a:bodyPr wrap="square" anchor="t"/>
          <a:lstStyle/>
          <a:p>
            <a:pPr algn="l">
              <a:spcBef>
                <a:spcPts val="0"/>
              </a:spcBef>
              <a:spcAft>
                <a:spcPts val="0"/>
              </a:spcAft>
            </a:pPr>
            <a:r>
              <a:rPr sz="1200" b="0">
                <a:solidFill>
                  <a:srgbClr val="C9C1B4"/>
                </a:solidFill>
                <a:latin typeface="Calibri"/>
                <a:ea typeface="Calibri"/>
                <a:cs typeface="Calibri"/>
              </a:rPr>
              <a:t>On the line</a:t>
            </a:r>
          </a:p>
          <a:p>
            <a:pPr algn="l">
              <a:spcBef>
                <a:spcPts val="0"/>
              </a:spcBef>
              <a:spcAft>
                <a:spcPts val="400"/>
              </a:spcAft>
            </a:pPr>
            <a:r>
              <a:rPr sz="1600" b="1">
                <a:solidFill>
                  <a:srgbClr val="FFFCF7"/>
                </a:solidFill>
                <a:latin typeface="Calibri"/>
                <a:ea typeface="Calibri"/>
                <a:cs typeface="Calibri"/>
              </a:rPr>
              <a:t>09:28 – 11:57</a:t>
            </a:r>
          </a:p>
        </p:txBody>
      </p:sp>
      <p:sp>
        <p:nvSpPr>
          <p:cNvPr id="10" name="TextBox 9"/>
          <p:cNvSpPr txBox="1"/>
          <p:nvPr/>
        </p:nvSpPr>
        <p:spPr>
          <a:xfrm>
            <a:off x="4297680" y="5623560"/>
            <a:ext cx="2011680" cy="640080"/>
          </a:xfrm>
          <a:prstGeom prst="rect">
            <a:avLst/>
          </a:prstGeom>
          <a:noFill/>
        </p:spPr>
        <p:txBody>
          <a:bodyPr wrap="square" anchor="t"/>
          <a:lstStyle/>
          <a:p>
            <a:pPr algn="l">
              <a:spcBef>
                <a:spcPts val="0"/>
              </a:spcBef>
              <a:spcAft>
                <a:spcPts val="0"/>
              </a:spcAft>
            </a:pPr>
            <a:r>
              <a:rPr sz="1200" b="0">
                <a:solidFill>
                  <a:srgbClr val="C9C1B4"/>
                </a:solidFill>
                <a:latin typeface="Calibri"/>
                <a:ea typeface="Calibri"/>
                <a:cs typeface="Calibri"/>
              </a:rPr>
              <a:t>Ruled out</a:t>
            </a:r>
          </a:p>
          <a:p>
            <a:pPr algn="l">
              <a:spcBef>
                <a:spcPts val="0"/>
              </a:spcBef>
              <a:spcAft>
                <a:spcPts val="400"/>
              </a:spcAft>
            </a:pPr>
            <a:r>
              <a:rPr sz="1600" b="1">
                <a:solidFill>
                  <a:srgbClr val="FFFCF7"/>
                </a:solidFill>
                <a:latin typeface="Calibri"/>
                <a:ea typeface="Calibri"/>
                <a:cs typeface="Calibri"/>
              </a:rPr>
              <a:t>Load cell,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RULED OUT FIRST</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Before the run, the scale and the room both passed</a:t>
            </a:r>
          </a:p>
        </p:txBody>
      </p:sp>
      <p:sp>
        <p:nvSpPr>
          <p:cNvPr id="5" name="TextBox 4"/>
          <p:cNvSpPr txBox="1"/>
          <p:nvPr/>
        </p:nvSpPr>
        <p:spPr>
          <a:xfrm>
            <a:off x="384048" y="1005840"/>
            <a:ext cx="10972800" cy="320040"/>
          </a:xfrm>
          <a:prstGeom prst="rect">
            <a:avLst/>
          </a:prstGeom>
          <a:noFill/>
        </p:spPr>
        <p:txBody>
          <a:bodyPr wrap="square" anchor="t"/>
          <a:lstStyle/>
          <a:p>
            <a:pPr algn="l">
              <a:spcBef>
                <a:spcPts val="0"/>
              </a:spcBef>
              <a:spcAft>
                <a:spcPts val="400"/>
              </a:spcAft>
            </a:pPr>
            <a:r>
              <a:rPr sz="1400" b="0">
                <a:solidFill>
                  <a:srgbClr val="5E584F"/>
                </a:solidFill>
                <a:latin typeface="Calibri"/>
                <a:ea typeface="Calibri"/>
                <a:cs typeface="Calibri"/>
              </a:rPr>
              <a:t>Those two results move the root cause off the instrument and off the room. The weight gap is on the powder path.</a:t>
            </a:r>
          </a:p>
        </p:txBody>
      </p:sp>
      <p:pic>
        <p:nvPicPr>
          <p:cNvPr id="6" name="Picture 5" descr="ppt-hobo.jpg"/>
          <p:cNvPicPr>
            <a:picLocks noChangeAspect="1"/>
          </p:cNvPicPr>
          <p:nvPr/>
        </p:nvPicPr>
        <p:blipFill>
          <a:blip r:embed="rId2"/>
          <a:stretch>
            <a:fillRect/>
          </a:stretch>
        </p:blipFill>
        <p:spPr>
          <a:xfrm>
            <a:off x="384048" y="1463040"/>
            <a:ext cx="3017520" cy="4754880"/>
          </a:xfrm>
          <a:prstGeom prst="rect">
            <a:avLst/>
          </a:prstGeom>
        </p:spPr>
      </p:pic>
      <p:sp>
        <p:nvSpPr>
          <p:cNvPr id="7" name="Rectangle 6"/>
          <p:cNvSpPr/>
          <p:nvPr/>
        </p:nvSpPr>
        <p:spPr>
          <a:xfrm>
            <a:off x="3611880" y="1463040"/>
            <a:ext cx="4023360" cy="4754880"/>
          </a:xfrm>
          <a:prstGeom prst="rect">
            <a:avLst/>
          </a:prstGeom>
          <a:solidFill>
            <a:srgbClr val="E7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1645920"/>
            <a:ext cx="3703320" cy="4389120"/>
          </a:xfrm>
          <a:prstGeom prst="rect">
            <a:avLst/>
          </a:prstGeom>
          <a:noFill/>
        </p:spPr>
        <p:txBody>
          <a:bodyPr wrap="square" anchor="t"/>
          <a:lstStyle/>
          <a:p>
            <a:pPr algn="l">
              <a:spcBef>
                <a:spcPts val="0"/>
              </a:spcBef>
              <a:spcAft>
                <a:spcPts val="400"/>
              </a:spcAft>
            </a:pPr>
            <a:r>
              <a:rPr sz="1400" b="1">
                <a:solidFill>
                  <a:srgbClr val="0E6B45"/>
                </a:solidFill>
                <a:latin typeface="Calibri"/>
                <a:ea typeface="Calibri"/>
                <a:cs typeface="Calibri"/>
              </a:rPr>
              <a:t>ROOM · INSIDE SPEC</a:t>
            </a:r>
          </a:p>
          <a:p>
            <a:pPr algn="l">
              <a:spcBef>
                <a:spcPts val="0"/>
              </a:spcBef>
              <a:spcAft>
                <a:spcPts val="1000"/>
              </a:spcAft>
            </a:pPr>
            <a:r>
              <a:rPr sz="2200" b="1">
                <a:solidFill>
                  <a:srgbClr val="1C1915"/>
                </a:solidFill>
                <a:latin typeface="Calibri"/>
                <a:ea typeface="Calibri"/>
                <a:cs typeface="Calibri"/>
              </a:rPr>
              <a:t>20.67°C    31.6% RH</a:t>
            </a:r>
          </a:p>
          <a:p>
            <a:pPr algn="l">
              <a:spcBef>
                <a:spcPts val="0"/>
              </a:spcBef>
              <a:spcAft>
                <a:spcPts val="400"/>
              </a:spcAft>
            </a:pPr>
            <a:r>
              <a:rPr sz="1400" b="0">
                <a:solidFill>
                  <a:srgbClr val="1C1915"/>
                </a:solidFill>
                <a:latin typeface="Calibri"/>
                <a:ea typeface="Calibri"/>
                <a:cs typeface="Calibri"/>
              </a:rPr>
              <a:t>Temperature spec 19–27°C. The reading sits in the middle.</a:t>
            </a:r>
          </a:p>
          <a:p>
            <a:pPr algn="l">
              <a:spcBef>
                <a:spcPts val="0"/>
              </a:spcBef>
              <a:spcAft>
                <a:spcPts val="400"/>
              </a:spcAft>
            </a:pPr>
            <a:r>
              <a:rPr sz="1400" b="0">
                <a:solidFill>
                  <a:srgbClr val="1C1915"/>
                </a:solidFill>
                <a:latin typeface="Calibri"/>
                <a:ea typeface="Calibri"/>
                <a:cs typeface="Calibri"/>
              </a:rPr>
              <a:t>Humidity spec 30–40% RH. 31.6% passes, 1.6 points above the floor, on the dry side.</a:t>
            </a:r>
          </a:p>
          <a:p>
            <a:pPr algn="l">
              <a:spcBef>
                <a:spcPts val="0"/>
              </a:spcBef>
              <a:spcAft>
                <a:spcPts val="400"/>
              </a:spcAft>
            </a:pPr>
            <a:r>
              <a:rPr sz="1400" b="0">
                <a:solidFill>
                  <a:srgbClr val="1C1915"/>
                </a:solidFill>
                <a:latin typeface="Calibri"/>
                <a:ea typeface="Calibri"/>
                <a:cs typeface="Calibri"/>
              </a:rPr>
              <a:t>The logger shows MEMORY / LOGGING.</a:t>
            </a:r>
          </a:p>
          <a:p>
            <a:pPr algn="l">
              <a:spcBef>
                <a:spcPts val="0"/>
              </a:spcBef>
              <a:spcAft>
                <a:spcPts val="400"/>
              </a:spcAft>
            </a:pPr>
            <a:r>
              <a:rPr sz="1400" b="0">
                <a:solidFill>
                  <a:srgbClr val="1C1915"/>
                </a:solidFill>
                <a:latin typeface="Calibri"/>
                <a:ea typeface="Calibri"/>
                <a:cs typeface="Calibri"/>
              </a:rPr>
              <a:t>Room humidity did not exceed the limit. The film is not a wet room.</a:t>
            </a:r>
          </a:p>
        </p:txBody>
      </p:sp>
      <p:sp>
        <p:nvSpPr>
          <p:cNvPr id="9" name="Rectangle 8"/>
          <p:cNvSpPr/>
          <p:nvPr/>
        </p:nvSpPr>
        <p:spPr>
          <a:xfrm>
            <a:off x="7818120" y="1463040"/>
            <a:ext cx="3977639" cy="4754880"/>
          </a:xfrm>
          <a:prstGeom prst="rect">
            <a:avLst/>
          </a:prstGeom>
          <a:solidFill>
            <a:srgbClr val="E7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645920"/>
            <a:ext cx="3657600" cy="4389120"/>
          </a:xfrm>
          <a:prstGeom prst="rect">
            <a:avLst/>
          </a:prstGeom>
          <a:noFill/>
        </p:spPr>
        <p:txBody>
          <a:bodyPr wrap="square" anchor="t"/>
          <a:lstStyle/>
          <a:p>
            <a:pPr algn="l">
              <a:spcBef>
                <a:spcPts val="0"/>
              </a:spcBef>
              <a:spcAft>
                <a:spcPts val="400"/>
              </a:spcAft>
            </a:pPr>
            <a:r>
              <a:rPr sz="1400" b="1">
                <a:solidFill>
                  <a:srgbClr val="0E6B45"/>
                </a:solidFill>
                <a:latin typeface="Calibri"/>
                <a:ea typeface="Calibri"/>
                <a:cs typeface="Calibri"/>
              </a:rPr>
              <a:t>ISHIDA · PASSED BEFORE THE RUN</a:t>
            </a:r>
          </a:p>
          <a:p>
            <a:pPr algn="l">
              <a:spcBef>
                <a:spcPts val="0"/>
              </a:spcBef>
              <a:spcAft>
                <a:spcPts val="1000"/>
              </a:spcAft>
            </a:pPr>
            <a:r>
              <a:rPr sz="2200" b="1">
                <a:solidFill>
                  <a:srgbClr val="1C1915"/>
                </a:solidFill>
                <a:latin typeface="Calibri"/>
                <a:ea typeface="Calibri"/>
                <a:cs typeface="Calibri"/>
              </a:rPr>
              <a:t>Unit 5, 600 g calibration</a:t>
            </a:r>
          </a:p>
          <a:p>
            <a:pPr algn="l">
              <a:spcBef>
                <a:spcPts val="0"/>
              </a:spcBef>
              <a:spcAft>
                <a:spcPts val="400"/>
              </a:spcAft>
            </a:pPr>
            <a:r>
              <a:rPr sz="1400" b="0">
                <a:solidFill>
                  <a:srgbClr val="1C1915"/>
                </a:solidFill>
                <a:latin typeface="Calibri"/>
                <a:ea typeface="Calibri"/>
                <a:cs typeface="Calibri"/>
              </a:rPr>
              <a:t>Weight checks at 200 g, 400 g, and 600 g all passed.</a:t>
            </a:r>
          </a:p>
          <a:p>
            <a:pPr algn="l">
              <a:spcBef>
                <a:spcPts val="0"/>
              </a:spcBef>
              <a:spcAft>
                <a:spcPts val="400"/>
              </a:spcAft>
            </a:pPr>
            <a:r>
              <a:rPr sz="1400" b="0">
                <a:solidFill>
                  <a:srgbClr val="1C1915"/>
                </a:solidFill>
                <a:latin typeface="Calibri"/>
                <a:ea typeface="Calibri"/>
                <a:cs typeface="Calibri"/>
              </a:rPr>
              <a:t>200 g is this run’s nominal bag weight. A static weight passed it.</a:t>
            </a:r>
          </a:p>
          <a:p>
            <a:pPr algn="l">
              <a:spcBef>
                <a:spcPts val="0"/>
              </a:spcBef>
              <a:spcAft>
                <a:spcPts val="400"/>
              </a:spcAft>
            </a:pPr>
            <a:r>
              <a:rPr sz="1400" b="0">
                <a:solidFill>
                  <a:srgbClr val="1C1915"/>
                </a:solidFill>
                <a:latin typeface="Calibri"/>
                <a:ea typeface="Calibri"/>
                <a:cs typeface="Calibri"/>
              </a:rPr>
              <a:t>The first three bags missing MT is not an uncalibrated load cell.</a:t>
            </a:r>
          </a:p>
          <a:p>
            <a:pPr algn="l">
              <a:spcBef>
                <a:spcPts val="0"/>
              </a:spcBef>
              <a:spcAft>
                <a:spcPts val="400"/>
              </a:spcAft>
            </a:pPr>
            <a:r>
              <a:rPr sz="1400" b="0">
                <a:solidFill>
                  <a:srgbClr val="1C1915"/>
                </a:solidFill>
                <a:latin typeface="Calibri"/>
                <a:ea typeface="Calibri"/>
                <a:cs typeface="Calibri"/>
              </a:rPr>
              <a:t>Calibration checks a weight. Lumps, film, and a short dump are invisible to it.</a:t>
            </a:r>
          </a:p>
        </p:txBody>
      </p:sp>
      <p:sp>
        <p:nvSpPr>
          <p:cNvPr id="11" name="TextBox 10"/>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SDA 1 L · 1 Oct 2026</a:t>
            </a:r>
          </a:p>
        </p:txBody>
      </p:sp>
      <p:sp>
        <p:nvSpPr>
          <p:cNvPr id="12" name="TextBox 11"/>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OVERVIEW</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Left: issue.          Right: root cause.</a:t>
            </a:r>
          </a:p>
        </p:txBody>
      </p:sp>
      <p:sp>
        <p:nvSpPr>
          <p:cNvPr id="5" name="Rectangle 4"/>
          <p:cNvSpPr/>
          <p:nvPr/>
        </p:nvSpPr>
        <p:spPr>
          <a:xfrm>
            <a:off x="384048" y="1051560"/>
            <a:ext cx="384048" cy="123444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435607"/>
            <a:ext cx="384048" cy="457200"/>
          </a:xfrm>
          <a:prstGeom prst="rect">
            <a:avLst/>
          </a:prstGeom>
          <a:noFill/>
        </p:spPr>
        <p:txBody>
          <a:bodyPr wrap="square" anchor="t"/>
          <a:lstStyle/>
          <a:p>
            <a:pPr algn="ctr">
              <a:spcBef>
                <a:spcPts val="0"/>
              </a:spcBef>
              <a:spcAft>
                <a:spcPts val="400"/>
              </a:spcAft>
            </a:pPr>
            <a:r>
              <a:rPr sz="1600" b="1">
                <a:solidFill>
                  <a:srgbClr val="FFFCF7"/>
                </a:solidFill>
                <a:latin typeface="Calibri"/>
                <a:ea typeface="Calibri"/>
                <a:cs typeface="Calibri"/>
              </a:rPr>
              <a:t>1</a:t>
            </a:r>
          </a:p>
        </p:txBody>
      </p:sp>
      <p:sp>
        <p:nvSpPr>
          <p:cNvPr id="7" name="Rectangle 6"/>
          <p:cNvSpPr/>
          <p:nvPr/>
        </p:nvSpPr>
        <p:spPr>
          <a:xfrm>
            <a:off x="768096" y="1051560"/>
            <a:ext cx="5486400" cy="12344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106424"/>
            <a:ext cx="5257800" cy="1115568"/>
          </a:xfrm>
          <a:prstGeom prst="rect">
            <a:avLst/>
          </a:prstGeom>
          <a:noFill/>
        </p:spPr>
        <p:txBody>
          <a:bodyPr wrap="square" anchor="t"/>
          <a:lstStyle/>
          <a:p>
            <a:pPr algn="l">
              <a:spcBef>
                <a:spcPts val="0"/>
              </a:spcBef>
              <a:spcAft>
                <a:spcPts val="100"/>
              </a:spcAft>
            </a:pPr>
            <a:r>
              <a:rPr sz="1300" b="1">
                <a:solidFill>
                  <a:srgbClr val="9A3B12"/>
                </a:solidFill>
                <a:latin typeface="Calibri"/>
                <a:ea typeface="Calibri"/>
                <a:cs typeface="Calibri"/>
              </a:rPr>
              <a:t>First three bags: Ishida and MT do not match</a:t>
            </a:r>
          </a:p>
          <a:p>
            <a:pPr algn="l">
              <a:spcBef>
                <a:spcPts val="0"/>
              </a:spcBef>
              <a:spcAft>
                <a:spcPts val="400"/>
              </a:spcAft>
            </a:pPr>
            <a:r>
              <a:rPr sz="1100" b="0">
                <a:solidFill>
                  <a:srgbClr val="1C1915"/>
                </a:solidFill>
                <a:latin typeface="Calibri"/>
                <a:ea typeface="Calibri"/>
                <a:cs typeface="Calibri"/>
              </a:rPr>
              <a:t>Ishida reads 203.4, 200.9, 201.1 g. Bag 1 is +3.4 g versus 200 g, the only bag beyond +2 g. Bags 2 and 3 are back in the pack.</a:t>
            </a:r>
          </a:p>
        </p:txBody>
      </p:sp>
      <p:sp>
        <p:nvSpPr>
          <p:cNvPr id="9" name="Rectangle 8"/>
          <p:cNvSpPr/>
          <p:nvPr/>
        </p:nvSpPr>
        <p:spPr>
          <a:xfrm>
            <a:off x="6254496" y="1051560"/>
            <a:ext cx="5532120" cy="12344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106424"/>
            <a:ext cx="5303520" cy="1115568"/>
          </a:xfrm>
          <a:prstGeom prst="rect">
            <a:avLst/>
          </a:prstGeom>
          <a:noFill/>
        </p:spPr>
        <p:txBody>
          <a:bodyPr wrap="square" anchor="t"/>
          <a:lstStyle/>
          <a:p>
            <a:pPr algn="l">
              <a:spcBef>
                <a:spcPts val="0"/>
              </a:spcBef>
              <a:spcAft>
                <a:spcPts val="100"/>
              </a:spcAft>
            </a:pPr>
            <a:r>
              <a:rPr sz="1300" b="1">
                <a:solidFill>
                  <a:srgbClr val="1E4D78"/>
                </a:solidFill>
                <a:latin typeface="Calibri"/>
                <a:ea typeface="Calibri"/>
                <a:cs typeface="Calibri"/>
              </a:rPr>
              <a:t>Hopper powder did not all reach the bag</a:t>
            </a:r>
          </a:p>
          <a:p>
            <a:pPr algn="l">
              <a:spcBef>
                <a:spcPts val="0"/>
              </a:spcBef>
              <a:spcAft>
                <a:spcPts val="400"/>
              </a:spcAft>
            </a:pPr>
            <a:r>
              <a:rPr sz="1100" b="0">
                <a:solidFill>
                  <a:srgbClr val="1C1915"/>
                </a:solidFill>
                <a:latin typeface="Calibri"/>
                <a:ea typeface="Calibri"/>
                <a:cs typeface="Calibri"/>
              </a:rPr>
              <a:t>Lumps and wall film separate the weight Ishida counted from the weight MT sees. Bag 1 also carried a startup slug. The three MT readings are not in this pack, so the gram gap is not calculated.</a:t>
            </a:r>
          </a:p>
        </p:txBody>
      </p:sp>
      <p:sp>
        <p:nvSpPr>
          <p:cNvPr id="11" name="Rectangle 10"/>
          <p:cNvSpPr/>
          <p:nvPr/>
        </p:nvSpPr>
        <p:spPr>
          <a:xfrm>
            <a:off x="384048" y="2377439"/>
            <a:ext cx="384048" cy="123444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761487"/>
            <a:ext cx="384048" cy="457200"/>
          </a:xfrm>
          <a:prstGeom prst="rect">
            <a:avLst/>
          </a:prstGeom>
          <a:noFill/>
        </p:spPr>
        <p:txBody>
          <a:bodyPr wrap="square" anchor="t"/>
          <a:lstStyle/>
          <a:p>
            <a:pPr algn="ctr">
              <a:spcBef>
                <a:spcPts val="0"/>
              </a:spcBef>
              <a:spcAft>
                <a:spcPts val="400"/>
              </a:spcAft>
            </a:pPr>
            <a:r>
              <a:rPr sz="1600" b="1">
                <a:solidFill>
                  <a:srgbClr val="FFFCF7"/>
                </a:solidFill>
                <a:latin typeface="Calibri"/>
                <a:ea typeface="Calibri"/>
                <a:cs typeface="Calibri"/>
              </a:rPr>
              <a:t>2</a:t>
            </a:r>
          </a:p>
        </p:txBody>
      </p:sp>
      <p:sp>
        <p:nvSpPr>
          <p:cNvPr id="13" name="Rectangle 12"/>
          <p:cNvSpPr/>
          <p:nvPr/>
        </p:nvSpPr>
        <p:spPr>
          <a:xfrm>
            <a:off x="768096" y="2377439"/>
            <a:ext cx="5486400" cy="12344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432303"/>
            <a:ext cx="5257800" cy="1115568"/>
          </a:xfrm>
          <a:prstGeom prst="rect">
            <a:avLst/>
          </a:prstGeom>
          <a:noFill/>
        </p:spPr>
        <p:txBody>
          <a:bodyPr wrap="square" anchor="t"/>
          <a:lstStyle/>
          <a:p>
            <a:pPr algn="l">
              <a:spcBef>
                <a:spcPts val="0"/>
              </a:spcBef>
              <a:spcAft>
                <a:spcPts val="100"/>
              </a:spcAft>
            </a:pPr>
            <a:r>
              <a:rPr sz="1300" b="1">
                <a:solidFill>
                  <a:srgbClr val="9A3B12"/>
                </a:solidFill>
                <a:latin typeface="Calibri"/>
                <a:ea typeface="Calibri"/>
                <a:cs typeface="Calibri"/>
              </a:rPr>
              <a:t>SDA lumps blocked the cut gate</a:t>
            </a:r>
          </a:p>
          <a:p>
            <a:pPr algn="l">
              <a:spcBef>
                <a:spcPts val="0"/>
              </a:spcBef>
              <a:spcAft>
                <a:spcPts val="400"/>
              </a:spcAft>
            </a:pPr>
            <a:r>
              <a:rPr sz="1100" b="0">
                <a:solidFill>
                  <a:srgbClr val="1C1915"/>
                </a:solidFill>
                <a:latin typeface="Calibri"/>
                <a:ea typeface="Calibri"/>
                <a:cs typeface="Calibri"/>
              </a:rPr>
              <a:t>Vibration time was lengthened. The video does not show the jam. It shows hard lumps already in the hopper, upstream of the gate.</a:t>
            </a:r>
          </a:p>
        </p:txBody>
      </p:sp>
      <p:sp>
        <p:nvSpPr>
          <p:cNvPr id="15" name="Rectangle 14"/>
          <p:cNvSpPr/>
          <p:nvPr/>
        </p:nvSpPr>
        <p:spPr>
          <a:xfrm>
            <a:off x="6254496" y="2377439"/>
            <a:ext cx="5532120" cy="12344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432303"/>
            <a:ext cx="5303520" cy="1115568"/>
          </a:xfrm>
          <a:prstGeom prst="rect">
            <a:avLst/>
          </a:prstGeom>
          <a:noFill/>
        </p:spPr>
        <p:txBody>
          <a:bodyPr wrap="square" anchor="t"/>
          <a:lstStyle/>
          <a:p>
            <a:pPr algn="l">
              <a:spcBef>
                <a:spcPts val="0"/>
              </a:spcBef>
              <a:spcAft>
                <a:spcPts val="100"/>
              </a:spcAft>
            </a:pPr>
            <a:r>
              <a:rPr sz="1300" b="1">
                <a:solidFill>
                  <a:srgbClr val="1E4D78"/>
                </a:solidFill>
                <a:latin typeface="Calibri"/>
                <a:ea typeface="Calibri"/>
                <a:cs typeface="Calibri"/>
              </a:rPr>
              <a:t>Lumps bridged the opening. Vibration was too short.</a:t>
            </a:r>
          </a:p>
          <a:p>
            <a:pPr algn="l">
              <a:spcBef>
                <a:spcPts val="0"/>
              </a:spcBef>
              <a:spcAft>
                <a:spcPts val="400"/>
              </a:spcAft>
            </a:pPr>
            <a:r>
              <a:rPr sz="1100" b="0">
                <a:solidFill>
                  <a:srgbClr val="1C1915"/>
                </a:solidFill>
                <a:latin typeface="Calibri"/>
                <a:ea typeface="Calibri"/>
                <a:cs typeface="Calibri"/>
              </a:rPr>
              <a:t>Lumps from the raw material seat in the gate, and sticky fines build a bridge. Longer vibration breaks this bridge. It does not remove the lumps.</a:t>
            </a:r>
          </a:p>
        </p:txBody>
      </p:sp>
      <p:sp>
        <p:nvSpPr>
          <p:cNvPr id="17" name="Rectangle 16"/>
          <p:cNvSpPr/>
          <p:nvPr/>
        </p:nvSpPr>
        <p:spPr>
          <a:xfrm>
            <a:off x="384048" y="3703320"/>
            <a:ext cx="384048" cy="123444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087368"/>
            <a:ext cx="384048" cy="457200"/>
          </a:xfrm>
          <a:prstGeom prst="rect">
            <a:avLst/>
          </a:prstGeom>
          <a:noFill/>
        </p:spPr>
        <p:txBody>
          <a:bodyPr wrap="square" anchor="t"/>
          <a:lstStyle/>
          <a:p>
            <a:pPr algn="ctr">
              <a:spcBef>
                <a:spcPts val="0"/>
              </a:spcBef>
              <a:spcAft>
                <a:spcPts val="400"/>
              </a:spcAft>
            </a:pPr>
            <a:r>
              <a:rPr sz="1600" b="1">
                <a:solidFill>
                  <a:srgbClr val="FFFCF7"/>
                </a:solidFill>
                <a:latin typeface="Calibri"/>
                <a:ea typeface="Calibri"/>
                <a:cs typeface="Calibri"/>
              </a:rPr>
              <a:t>3</a:t>
            </a:r>
          </a:p>
        </p:txBody>
      </p:sp>
      <p:sp>
        <p:nvSpPr>
          <p:cNvPr id="19" name="Rectangle 18"/>
          <p:cNvSpPr/>
          <p:nvPr/>
        </p:nvSpPr>
        <p:spPr>
          <a:xfrm>
            <a:off x="768096" y="3703320"/>
            <a:ext cx="5486400" cy="12344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3758183"/>
            <a:ext cx="5257800" cy="1115568"/>
          </a:xfrm>
          <a:prstGeom prst="rect">
            <a:avLst/>
          </a:prstGeom>
          <a:noFill/>
        </p:spPr>
        <p:txBody>
          <a:bodyPr wrap="square" anchor="t"/>
          <a:lstStyle/>
          <a:p>
            <a:pPr algn="l">
              <a:spcBef>
                <a:spcPts val="0"/>
              </a:spcBef>
              <a:spcAft>
                <a:spcPts val="100"/>
              </a:spcAft>
            </a:pPr>
            <a:r>
              <a:rPr sz="1300" b="1">
                <a:solidFill>
                  <a:srgbClr val="9A3B12"/>
                </a:solidFill>
                <a:latin typeface="Calibri"/>
                <a:ea typeface="Calibri"/>
                <a:cs typeface="Calibri"/>
              </a:rPr>
              <a:t>Powder stuck on the cut gate and weigh hopper</a:t>
            </a:r>
          </a:p>
          <a:p>
            <a:pPr algn="l">
              <a:spcBef>
                <a:spcPts val="0"/>
              </a:spcBef>
              <a:spcAft>
                <a:spcPts val="400"/>
              </a:spcAft>
            </a:pPr>
            <a:r>
              <a:rPr sz="1100" b="0">
                <a:solidFill>
                  <a:srgbClr val="1C1915"/>
                </a:solidFill>
                <a:latin typeface="Calibri"/>
                <a:ea typeface="Calibri"/>
                <a:cs typeface="Calibri"/>
              </a:rPr>
              <a:t>At 11:57 the removed chute is bright above the midline and filmed below it, thickest in the corners. The infeed grate is caked on the right rim only.</a:t>
            </a:r>
          </a:p>
        </p:txBody>
      </p:sp>
      <p:sp>
        <p:nvSpPr>
          <p:cNvPr id="21" name="Rectangle 20"/>
          <p:cNvSpPr/>
          <p:nvPr/>
        </p:nvSpPr>
        <p:spPr>
          <a:xfrm>
            <a:off x="6254496" y="3703320"/>
            <a:ext cx="5532120" cy="12344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3758183"/>
            <a:ext cx="5303520" cy="1115568"/>
          </a:xfrm>
          <a:prstGeom prst="rect">
            <a:avLst/>
          </a:prstGeom>
          <a:noFill/>
        </p:spPr>
        <p:txBody>
          <a:bodyPr wrap="square" anchor="t"/>
          <a:lstStyle/>
          <a:p>
            <a:pPr algn="l">
              <a:spcBef>
                <a:spcPts val="0"/>
              </a:spcBef>
              <a:spcAft>
                <a:spcPts val="100"/>
              </a:spcAft>
            </a:pPr>
            <a:r>
              <a:rPr sz="1300" b="1">
                <a:solidFill>
                  <a:srgbClr val="1E4D78"/>
                </a:solidFill>
                <a:latin typeface="Calibri"/>
                <a:ea typeface="Calibri"/>
                <a:cs typeface="Calibri"/>
              </a:rPr>
              <a:t>Sticky fines were smeared onto stainless by the lumps</a:t>
            </a:r>
          </a:p>
          <a:p>
            <a:pPr algn="l">
              <a:spcBef>
                <a:spcPts val="0"/>
              </a:spcBef>
              <a:spcAft>
                <a:spcPts val="400"/>
              </a:spcAft>
            </a:pPr>
            <a:r>
              <a:rPr sz="1100" b="0">
                <a:solidFill>
                  <a:srgbClr val="1C1915"/>
                </a:solidFill>
                <a:latin typeface="Calibri"/>
                <a:ea typeface="Calibri"/>
                <a:cs typeface="Calibri"/>
              </a:rPr>
              <a:t>Once a film exists, the next dose sticks to the film. No knocker or air knife is visible. Room RH is inside spec and on the dry side. This is a dry film, not condensation.</a:t>
            </a:r>
          </a:p>
        </p:txBody>
      </p:sp>
      <p:sp>
        <p:nvSpPr>
          <p:cNvPr id="23" name="Rectangle 22"/>
          <p:cNvSpPr/>
          <p:nvPr/>
        </p:nvSpPr>
        <p:spPr>
          <a:xfrm>
            <a:off x="384048" y="5029200"/>
            <a:ext cx="384048" cy="123444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5413248"/>
            <a:ext cx="384048" cy="457200"/>
          </a:xfrm>
          <a:prstGeom prst="rect">
            <a:avLst/>
          </a:prstGeom>
          <a:noFill/>
        </p:spPr>
        <p:txBody>
          <a:bodyPr wrap="square" anchor="t"/>
          <a:lstStyle/>
          <a:p>
            <a:pPr algn="ctr">
              <a:spcBef>
                <a:spcPts val="0"/>
              </a:spcBef>
              <a:spcAft>
                <a:spcPts val="400"/>
              </a:spcAft>
            </a:pPr>
            <a:r>
              <a:rPr sz="1600" b="1">
                <a:solidFill>
                  <a:srgbClr val="FFFCF7"/>
                </a:solidFill>
                <a:latin typeface="Calibri"/>
                <a:ea typeface="Calibri"/>
                <a:cs typeface="Calibri"/>
              </a:rPr>
              <a:t>4</a:t>
            </a:r>
          </a:p>
        </p:txBody>
      </p:sp>
      <p:sp>
        <p:nvSpPr>
          <p:cNvPr id="25" name="Rectangle 24"/>
          <p:cNvSpPr/>
          <p:nvPr/>
        </p:nvSpPr>
        <p:spPr>
          <a:xfrm>
            <a:off x="768096" y="5029200"/>
            <a:ext cx="5486400" cy="12344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5084064"/>
            <a:ext cx="5257800" cy="1115568"/>
          </a:xfrm>
          <a:prstGeom prst="rect">
            <a:avLst/>
          </a:prstGeom>
          <a:noFill/>
        </p:spPr>
        <p:txBody>
          <a:bodyPr wrap="square" anchor="t"/>
          <a:lstStyle/>
          <a:p>
            <a:pPr algn="l">
              <a:spcBef>
                <a:spcPts val="0"/>
              </a:spcBef>
              <a:spcAft>
                <a:spcPts val="100"/>
              </a:spcAft>
            </a:pPr>
            <a:r>
              <a:rPr sz="1300" b="1">
                <a:solidFill>
                  <a:srgbClr val="9A3B12"/>
                </a:solidFill>
                <a:latin typeface="Calibri"/>
                <a:ea typeface="Calibri"/>
                <a:cs typeface="Calibri"/>
              </a:rPr>
              <a:t>The raw material contains lumps</a:t>
            </a:r>
          </a:p>
          <a:p>
            <a:pPr algn="l">
              <a:spcBef>
                <a:spcPts val="0"/>
              </a:spcBef>
              <a:spcAft>
                <a:spcPts val="400"/>
              </a:spcAft>
            </a:pPr>
            <a:r>
              <a:rPr sz="1100" b="0">
                <a:solidFill>
                  <a:srgbClr val="1C1915"/>
                </a:solidFill>
                <a:latin typeface="Calibri"/>
                <a:ea typeface="Calibri"/>
                <a:cs typeface="Calibri"/>
              </a:rPr>
              <a:t>Before the test, Unit 5 was calibrated at 600 g and the 200 / 400 / 600 g checks passed. The lumps were seen after that pass, as soon as powder entered the hopper.</a:t>
            </a:r>
          </a:p>
        </p:txBody>
      </p:sp>
      <p:sp>
        <p:nvSpPr>
          <p:cNvPr id="27" name="Rectangle 26"/>
          <p:cNvSpPr/>
          <p:nvPr/>
        </p:nvSpPr>
        <p:spPr>
          <a:xfrm>
            <a:off x="6254496" y="5029200"/>
            <a:ext cx="5532120" cy="12344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5084064"/>
            <a:ext cx="5303520" cy="1115568"/>
          </a:xfrm>
          <a:prstGeom prst="rect">
            <a:avLst/>
          </a:prstGeom>
          <a:noFill/>
        </p:spPr>
        <p:txBody>
          <a:bodyPr wrap="square" anchor="t"/>
          <a:lstStyle/>
          <a:p>
            <a:pPr algn="l">
              <a:spcBef>
                <a:spcPts val="0"/>
              </a:spcBef>
              <a:spcAft>
                <a:spcPts val="100"/>
              </a:spcAft>
            </a:pPr>
            <a:r>
              <a:rPr sz="1300" b="1">
                <a:solidFill>
                  <a:srgbClr val="1E4D78"/>
                </a:solidFill>
                <a:latin typeface="Calibri"/>
                <a:ea typeface="Calibri"/>
                <a:cs typeface="Calibri"/>
              </a:rPr>
              <a:t>The lumps came in with the raw material</a:t>
            </a:r>
          </a:p>
          <a:p>
            <a:pPr algn="l">
              <a:spcBef>
                <a:spcPts val="0"/>
              </a:spcBef>
              <a:spcAft>
                <a:spcPts val="400"/>
              </a:spcAft>
            </a:pPr>
            <a:r>
              <a:rPr sz="1100" b="0">
                <a:solidFill>
                  <a:srgbClr val="1C1915"/>
                </a:solidFill>
                <a:latin typeface="Calibri"/>
                <a:ea typeface="Calibri"/>
                <a:cs typeface="Calibri"/>
              </a:rPr>
              <a:t>They sit on the powder surface, before the cut gate. They start issues 1 to 3: lumps block the gate, broken lumps smear the wall, residue splits the two scales.</a:t>
            </a:r>
          </a:p>
        </p:txBody>
      </p:sp>
      <p:sp>
        <p:nvSpPr>
          <p:cNvPr id="29" name="TextBox 28"/>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Nominal target 200 g · detail on page 6</a:t>
            </a:r>
          </a:p>
        </p:txBody>
      </p:sp>
      <p:sp>
        <p:nvSpPr>
          <p:cNvPr id="30" name="TextBox 29"/>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ONE CHAIN</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How the four issues connect</a:t>
            </a:r>
          </a:p>
        </p:txBody>
      </p:sp>
      <p:sp>
        <p:nvSpPr>
          <p:cNvPr id="5" name="TextBox 4"/>
          <p:cNvSpPr txBox="1"/>
          <p:nvPr/>
        </p:nvSpPr>
        <p:spPr>
          <a:xfrm>
            <a:off x="384048" y="987552"/>
            <a:ext cx="10972800" cy="274320"/>
          </a:xfrm>
          <a:prstGeom prst="rect">
            <a:avLst/>
          </a:prstGeom>
          <a:noFill/>
        </p:spPr>
        <p:txBody>
          <a:bodyPr wrap="square" anchor="t"/>
          <a:lstStyle/>
          <a:p>
            <a:pPr algn="l">
              <a:spcBef>
                <a:spcPts val="0"/>
              </a:spcBef>
              <a:spcAft>
                <a:spcPts val="400"/>
              </a:spcAft>
            </a:pPr>
            <a:r>
              <a:rPr sz="1300" b="0">
                <a:solidFill>
                  <a:srgbClr val="5E584F"/>
                </a:solidFill>
                <a:latin typeface="Calibri"/>
                <a:ea typeface="Calibri"/>
                <a:cs typeface="Calibri"/>
              </a:rPr>
              <a:t>Calibration and the room sit outside this chain. They passed, so they are not one of the five steps.</a:t>
            </a:r>
          </a:p>
        </p:txBody>
      </p:sp>
      <p:sp>
        <p:nvSpPr>
          <p:cNvPr id="6" name="Rectangle 5"/>
          <p:cNvSpPr/>
          <p:nvPr/>
        </p:nvSpPr>
        <p:spPr>
          <a:xfrm>
            <a:off x="384048" y="1371600"/>
            <a:ext cx="2212848" cy="1554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444752"/>
            <a:ext cx="2029968" cy="1417320"/>
          </a:xfrm>
          <a:prstGeom prst="rect">
            <a:avLst/>
          </a:prstGeom>
          <a:noFill/>
        </p:spPr>
        <p:txBody>
          <a:bodyPr wrap="square" anchor="t"/>
          <a:lstStyle/>
          <a:p>
            <a:pPr algn="l">
              <a:spcBef>
                <a:spcPts val="0"/>
              </a:spcBef>
              <a:spcAft>
                <a:spcPts val="200"/>
              </a:spcAft>
            </a:pPr>
            <a:r>
              <a:rPr sz="1100" b="1">
                <a:solidFill>
                  <a:srgbClr val="9A3B12"/>
                </a:solidFill>
                <a:latin typeface="Calibri"/>
                <a:ea typeface="Calibri"/>
                <a:cs typeface="Calibri"/>
              </a:rPr>
              <a:t>01  RAW MATERIAL</a:t>
            </a:r>
          </a:p>
          <a:p>
            <a:pPr algn="l">
              <a:spcBef>
                <a:spcPts val="0"/>
              </a:spcBef>
              <a:spcAft>
                <a:spcPts val="200"/>
              </a:spcAft>
            </a:pPr>
            <a:r>
              <a:rPr sz="1400" b="1">
                <a:solidFill>
                  <a:srgbClr val="1C1915"/>
                </a:solidFill>
                <a:latin typeface="Calibri"/>
                <a:ea typeface="Calibri"/>
                <a:cs typeface="Calibri"/>
              </a:rPr>
              <a:t>Lumps are already in the hopper</a:t>
            </a:r>
          </a:p>
          <a:p>
            <a:pPr algn="l">
              <a:spcBef>
                <a:spcPts val="0"/>
              </a:spcBef>
              <a:spcAft>
                <a:spcPts val="400"/>
              </a:spcAft>
            </a:pPr>
            <a:r>
              <a:rPr sz="1100" b="0">
                <a:solidFill>
                  <a:srgbClr val="5E584F"/>
                </a:solidFill>
                <a:latin typeface="Calibri"/>
                <a:ea typeface="Calibri"/>
                <a:cs typeface="Calibri"/>
              </a:rPr>
              <a:t>Whole pieces sit on the powder. The gate did not cut them.</a:t>
            </a:r>
          </a:p>
        </p:txBody>
      </p:sp>
      <p:sp>
        <p:nvSpPr>
          <p:cNvPr id="8" name="Rectangle 7"/>
          <p:cNvSpPr/>
          <p:nvPr/>
        </p:nvSpPr>
        <p:spPr>
          <a:xfrm>
            <a:off x="2724912" y="1371600"/>
            <a:ext cx="2212848" cy="1554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16352" y="1444752"/>
            <a:ext cx="2029968" cy="1417320"/>
          </a:xfrm>
          <a:prstGeom prst="rect">
            <a:avLst/>
          </a:prstGeom>
          <a:noFill/>
        </p:spPr>
        <p:txBody>
          <a:bodyPr wrap="square" anchor="t"/>
          <a:lstStyle/>
          <a:p>
            <a:pPr algn="l">
              <a:spcBef>
                <a:spcPts val="0"/>
              </a:spcBef>
              <a:spcAft>
                <a:spcPts val="200"/>
              </a:spcAft>
            </a:pPr>
            <a:r>
              <a:rPr sz="1100" b="1">
                <a:solidFill>
                  <a:srgbClr val="9A3B12"/>
                </a:solidFill>
                <a:latin typeface="Calibri"/>
                <a:ea typeface="Calibri"/>
                <a:cs typeface="Calibri"/>
              </a:rPr>
              <a:t>02  GATE</a:t>
            </a:r>
          </a:p>
          <a:p>
            <a:pPr algn="l">
              <a:spcBef>
                <a:spcPts val="0"/>
              </a:spcBef>
              <a:spcAft>
                <a:spcPts val="200"/>
              </a:spcAft>
            </a:pPr>
            <a:r>
              <a:rPr sz="1400" b="1">
                <a:solidFill>
                  <a:srgbClr val="1C1915"/>
                </a:solidFill>
                <a:latin typeface="Calibri"/>
                <a:ea typeface="Calibri"/>
                <a:cs typeface="Calibri"/>
              </a:rPr>
              <a:t>Lumps bridge the cut gate</a:t>
            </a:r>
          </a:p>
          <a:p>
            <a:pPr algn="l">
              <a:spcBef>
                <a:spcPts val="0"/>
              </a:spcBef>
              <a:spcAft>
                <a:spcPts val="400"/>
              </a:spcAft>
            </a:pPr>
            <a:r>
              <a:rPr sz="1100" b="0">
                <a:solidFill>
                  <a:srgbClr val="5E584F"/>
                </a:solidFill>
                <a:latin typeface="Calibri"/>
                <a:ea typeface="Calibri"/>
                <a:cs typeface="Calibri"/>
              </a:rPr>
              <a:t>Line record. The original vibration time does not break that bridge.</a:t>
            </a:r>
          </a:p>
        </p:txBody>
      </p:sp>
      <p:sp>
        <p:nvSpPr>
          <p:cNvPr id="10" name="Rectangle 9"/>
          <p:cNvSpPr/>
          <p:nvPr/>
        </p:nvSpPr>
        <p:spPr>
          <a:xfrm>
            <a:off x="5065776" y="1371600"/>
            <a:ext cx="2212848" cy="1554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57216" y="1444752"/>
            <a:ext cx="2029968" cy="1417320"/>
          </a:xfrm>
          <a:prstGeom prst="rect">
            <a:avLst/>
          </a:prstGeom>
          <a:noFill/>
        </p:spPr>
        <p:txBody>
          <a:bodyPr wrap="square" anchor="t"/>
          <a:lstStyle/>
          <a:p>
            <a:pPr algn="l">
              <a:spcBef>
                <a:spcPts val="0"/>
              </a:spcBef>
              <a:spcAft>
                <a:spcPts val="200"/>
              </a:spcAft>
            </a:pPr>
            <a:r>
              <a:rPr sz="1100" b="1">
                <a:solidFill>
                  <a:srgbClr val="9A3B12"/>
                </a:solidFill>
                <a:latin typeface="Calibri"/>
                <a:ea typeface="Calibri"/>
                <a:cs typeface="Calibri"/>
              </a:rPr>
              <a:t>03  ACTION</a:t>
            </a:r>
          </a:p>
          <a:p>
            <a:pPr algn="l">
              <a:spcBef>
                <a:spcPts val="0"/>
              </a:spcBef>
              <a:spcAft>
                <a:spcPts val="200"/>
              </a:spcAft>
            </a:pPr>
            <a:r>
              <a:rPr sz="1400" b="1">
                <a:solidFill>
                  <a:srgbClr val="1C1915"/>
                </a:solidFill>
                <a:latin typeface="Calibri"/>
                <a:ea typeface="Calibri"/>
                <a:cs typeface="Calibri"/>
              </a:rPr>
              <a:t>Vibration time increased</a:t>
            </a:r>
          </a:p>
          <a:p>
            <a:pPr algn="l">
              <a:spcBef>
                <a:spcPts val="0"/>
              </a:spcBef>
              <a:spcAft>
                <a:spcPts val="400"/>
              </a:spcAft>
            </a:pPr>
            <a:r>
              <a:rPr sz="1100" b="0">
                <a:solidFill>
                  <a:srgbClr val="5E584F"/>
                </a:solidFill>
                <a:latin typeface="Calibri"/>
                <a:ea typeface="Calibri"/>
                <a:cs typeface="Calibri"/>
              </a:rPr>
              <a:t>It breaks the bridge and smears more powder. It does not replace a screen.</a:t>
            </a:r>
          </a:p>
        </p:txBody>
      </p:sp>
      <p:sp>
        <p:nvSpPr>
          <p:cNvPr id="12" name="Rectangle 11"/>
          <p:cNvSpPr/>
          <p:nvPr/>
        </p:nvSpPr>
        <p:spPr>
          <a:xfrm>
            <a:off x="7406640" y="1371600"/>
            <a:ext cx="2212848" cy="1554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444752"/>
            <a:ext cx="2029968" cy="1417320"/>
          </a:xfrm>
          <a:prstGeom prst="rect">
            <a:avLst/>
          </a:prstGeom>
          <a:noFill/>
        </p:spPr>
        <p:txBody>
          <a:bodyPr wrap="square" anchor="t"/>
          <a:lstStyle/>
          <a:p>
            <a:pPr algn="l">
              <a:spcBef>
                <a:spcPts val="0"/>
              </a:spcBef>
              <a:spcAft>
                <a:spcPts val="200"/>
              </a:spcAft>
            </a:pPr>
            <a:r>
              <a:rPr sz="1100" b="1">
                <a:solidFill>
                  <a:srgbClr val="9A3B12"/>
                </a:solidFill>
                <a:latin typeface="Calibri"/>
                <a:ea typeface="Calibri"/>
                <a:cs typeface="Calibri"/>
              </a:rPr>
              <a:t>04  FILM</a:t>
            </a:r>
          </a:p>
          <a:p>
            <a:pPr algn="l">
              <a:spcBef>
                <a:spcPts val="0"/>
              </a:spcBef>
              <a:spcAft>
                <a:spcPts val="200"/>
              </a:spcAft>
            </a:pPr>
            <a:r>
              <a:rPr sz="1400" b="1">
                <a:solidFill>
                  <a:srgbClr val="1C1915"/>
                </a:solidFill>
                <a:latin typeface="Calibri"/>
                <a:ea typeface="Calibri"/>
                <a:cs typeface="Calibri"/>
              </a:rPr>
              <a:t>Gate and hopper keep a film</a:t>
            </a:r>
          </a:p>
          <a:p>
            <a:pPr algn="l">
              <a:spcBef>
                <a:spcPts val="0"/>
              </a:spcBef>
              <a:spcAft>
                <a:spcPts val="400"/>
              </a:spcAft>
            </a:pPr>
            <a:r>
              <a:rPr sz="1100" b="0">
                <a:solidFill>
                  <a:srgbClr val="5E584F"/>
                </a:solidFill>
                <a:latin typeface="Calibri"/>
                <a:ea typeface="Calibri"/>
                <a:cs typeface="Calibri"/>
              </a:rPr>
              <a:t>Lower chute at 11:57, and the grate rim. That is weight that missed the bag.</a:t>
            </a:r>
          </a:p>
        </p:txBody>
      </p:sp>
      <p:sp>
        <p:nvSpPr>
          <p:cNvPr id="14" name="Rectangle 13"/>
          <p:cNvSpPr/>
          <p:nvPr/>
        </p:nvSpPr>
        <p:spPr>
          <a:xfrm>
            <a:off x="9747504" y="1371600"/>
            <a:ext cx="2212848" cy="1554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38944" y="1444752"/>
            <a:ext cx="2029968" cy="1417320"/>
          </a:xfrm>
          <a:prstGeom prst="rect">
            <a:avLst/>
          </a:prstGeom>
          <a:noFill/>
        </p:spPr>
        <p:txBody>
          <a:bodyPr wrap="square" anchor="t"/>
          <a:lstStyle/>
          <a:p>
            <a:pPr algn="l">
              <a:spcBef>
                <a:spcPts val="0"/>
              </a:spcBef>
              <a:spcAft>
                <a:spcPts val="200"/>
              </a:spcAft>
            </a:pPr>
            <a:r>
              <a:rPr sz="1100" b="1">
                <a:solidFill>
                  <a:srgbClr val="9A3B12"/>
                </a:solidFill>
                <a:latin typeface="Calibri"/>
                <a:ea typeface="Calibri"/>
                <a:cs typeface="Calibri"/>
              </a:rPr>
              <a:t>05  BAG WEIGHT</a:t>
            </a:r>
          </a:p>
          <a:p>
            <a:pPr algn="l">
              <a:spcBef>
                <a:spcPts val="0"/>
              </a:spcBef>
              <a:spcAft>
                <a:spcPts val="200"/>
              </a:spcAft>
            </a:pPr>
            <a:r>
              <a:rPr sz="1400" b="1">
                <a:solidFill>
                  <a:srgbClr val="1C1915"/>
                </a:solidFill>
                <a:latin typeface="Calibri"/>
                <a:ea typeface="Calibri"/>
                <a:cs typeface="Calibri"/>
              </a:rPr>
              <a:t>Ishida ≠ MT</a:t>
            </a:r>
          </a:p>
          <a:p>
            <a:pPr algn="l">
              <a:spcBef>
                <a:spcPts val="0"/>
              </a:spcBef>
              <a:spcAft>
                <a:spcPts val="400"/>
              </a:spcAft>
            </a:pPr>
            <a:r>
              <a:rPr sz="1100" b="0">
                <a:solidFill>
                  <a:srgbClr val="5E584F"/>
                </a:solidFill>
                <a:latin typeface="Calibri"/>
                <a:ea typeface="Calibri"/>
                <a:cs typeface="Calibri"/>
              </a:rPr>
              <a:t>Bag 1 is 203.4 g. The next 49 bags settle at 200.98 g.</a:t>
            </a:r>
          </a:p>
        </p:txBody>
      </p:sp>
      <p:sp>
        <p:nvSpPr>
          <p:cNvPr id="16" name="Rectangle 15"/>
          <p:cNvSpPr/>
          <p:nvPr/>
        </p:nvSpPr>
        <p:spPr>
          <a:xfrm>
            <a:off x="384048" y="3090672"/>
            <a:ext cx="11430000" cy="77724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182112"/>
            <a:ext cx="11155680" cy="621792"/>
          </a:xfrm>
          <a:prstGeom prst="rect">
            <a:avLst/>
          </a:prstGeom>
          <a:noFill/>
        </p:spPr>
        <p:txBody>
          <a:bodyPr wrap="square" anchor="t"/>
          <a:lstStyle/>
          <a:p>
            <a:pPr algn="l">
              <a:spcBef>
                <a:spcPts val="0"/>
              </a:spcBef>
              <a:spcAft>
                <a:spcPts val="400"/>
              </a:spcAft>
            </a:pPr>
            <a:r>
              <a:rPr sz="1500" b="0">
                <a:solidFill>
                  <a:srgbClr val="FFFCF7"/>
                </a:solidFill>
                <a:latin typeface="Calibri"/>
                <a:ea typeface="Calibri"/>
                <a:cs typeface="Calibri"/>
              </a:rPr>
              <a:t>The load cell answers how much is in the hopper. MT answers how much ended up in the bag. Powder left on the gate or the wall splits those two numbers.</a:t>
            </a:r>
          </a:p>
        </p:txBody>
      </p:sp>
      <p:pic>
        <p:nvPicPr>
          <p:cNvPr id="18" name="Picture 17" descr="ppt-lumps-wide.jpg"/>
          <p:cNvPicPr>
            <a:picLocks noChangeAspect="1"/>
          </p:cNvPicPr>
          <p:nvPr/>
        </p:nvPicPr>
        <p:blipFill>
          <a:blip r:embed="rId2"/>
          <a:stretch>
            <a:fillRect/>
          </a:stretch>
        </p:blipFill>
        <p:spPr>
          <a:xfrm>
            <a:off x="384048" y="4023360"/>
            <a:ext cx="3657600" cy="2286000"/>
          </a:xfrm>
          <a:prstGeom prst="rect">
            <a:avLst/>
          </a:prstGeom>
        </p:spPr>
      </p:pic>
      <p:pic>
        <p:nvPicPr>
          <p:cNvPr id="19" name="Picture 18" descr="ppt-grate.jpg"/>
          <p:cNvPicPr>
            <a:picLocks noChangeAspect="1"/>
          </p:cNvPicPr>
          <p:nvPr/>
        </p:nvPicPr>
        <p:blipFill>
          <a:blip r:embed="rId3"/>
          <a:stretch>
            <a:fillRect/>
          </a:stretch>
        </p:blipFill>
        <p:spPr>
          <a:xfrm>
            <a:off x="4224528" y="4023360"/>
            <a:ext cx="3657600" cy="2286000"/>
          </a:xfrm>
          <a:prstGeom prst="rect">
            <a:avLst/>
          </a:prstGeom>
        </p:spPr>
      </p:pic>
      <p:pic>
        <p:nvPicPr>
          <p:cNvPr id="20" name="Picture 19" descr="ppt-chute.jpg"/>
          <p:cNvPicPr>
            <a:picLocks noChangeAspect="1"/>
          </p:cNvPicPr>
          <p:nvPr/>
        </p:nvPicPr>
        <p:blipFill>
          <a:blip r:embed="rId4"/>
          <a:stretch>
            <a:fillRect/>
          </a:stretch>
        </p:blipFill>
        <p:spPr>
          <a:xfrm>
            <a:off x="8065008" y="4023360"/>
            <a:ext cx="3749039" cy="2286000"/>
          </a:xfrm>
          <a:prstGeom prst="rect">
            <a:avLst/>
          </a:prstGeom>
        </p:spPr>
      </p:pic>
      <p:sp>
        <p:nvSpPr>
          <p:cNvPr id="21" name="TextBox 20"/>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The action taken covers step 03 only · play the videos in the HTML deck</a:t>
            </a:r>
          </a:p>
        </p:txBody>
      </p:sp>
      <p:sp>
        <p:nvSpPr>
          <p:cNvPr id="22" name="TextBox 21"/>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ISSUE 1 · WEIGHT</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The first three bags disagree. Bag 1 is the outlier.</a:t>
            </a:r>
          </a:p>
        </p:txBody>
      </p:sp>
      <p:sp>
        <p:nvSpPr>
          <p:cNvPr id="5" name="Rectangle 4"/>
          <p:cNvSpPr/>
          <p:nvPr/>
        </p:nvSpPr>
        <p:spPr>
          <a:xfrm>
            <a:off x="384048" y="1097280"/>
            <a:ext cx="2240280" cy="7772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152144"/>
            <a:ext cx="2057400" cy="658368"/>
          </a:xfrm>
          <a:prstGeom prst="rect">
            <a:avLst/>
          </a:prstGeom>
          <a:noFill/>
        </p:spPr>
        <p:txBody>
          <a:bodyPr wrap="square" anchor="t"/>
          <a:lstStyle/>
          <a:p>
            <a:pPr algn="l">
              <a:spcBef>
                <a:spcPts val="0"/>
              </a:spcBef>
              <a:spcAft>
                <a:spcPts val="0"/>
              </a:spcAft>
            </a:pPr>
            <a:r>
              <a:rPr sz="1800" b="1">
                <a:solidFill>
                  <a:srgbClr val="1C1915"/>
                </a:solidFill>
                <a:latin typeface="Calibri"/>
                <a:ea typeface="Calibri"/>
                <a:cs typeface="Calibri"/>
              </a:rPr>
              <a:t>203.4 g</a:t>
            </a:r>
          </a:p>
          <a:p>
            <a:pPr algn="l">
              <a:spcBef>
                <a:spcPts val="0"/>
              </a:spcBef>
              <a:spcAft>
                <a:spcPts val="400"/>
              </a:spcAft>
            </a:pPr>
            <a:r>
              <a:rPr sz="1100" b="0">
                <a:solidFill>
                  <a:srgbClr val="5E584F"/>
                </a:solidFill>
                <a:latin typeface="Calibri"/>
                <a:ea typeface="Calibri"/>
                <a:cs typeface="Calibri"/>
              </a:rPr>
              <a:t>Bag 1, +3.4 g vs target</a:t>
            </a:r>
          </a:p>
        </p:txBody>
      </p:sp>
      <p:sp>
        <p:nvSpPr>
          <p:cNvPr id="7" name="Rectangle 6"/>
          <p:cNvSpPr/>
          <p:nvPr/>
        </p:nvSpPr>
        <p:spPr>
          <a:xfrm>
            <a:off x="2724912" y="1097280"/>
            <a:ext cx="2240280" cy="7772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16352" y="1152144"/>
            <a:ext cx="2057400" cy="658368"/>
          </a:xfrm>
          <a:prstGeom prst="rect">
            <a:avLst/>
          </a:prstGeom>
          <a:noFill/>
        </p:spPr>
        <p:txBody>
          <a:bodyPr wrap="square" anchor="t"/>
          <a:lstStyle/>
          <a:p>
            <a:pPr algn="l">
              <a:spcBef>
                <a:spcPts val="0"/>
              </a:spcBef>
              <a:spcAft>
                <a:spcPts val="0"/>
              </a:spcAft>
            </a:pPr>
            <a:r>
              <a:rPr sz="1800" b="1">
                <a:solidFill>
                  <a:srgbClr val="1C1915"/>
                </a:solidFill>
                <a:latin typeface="Calibri"/>
                <a:ea typeface="Calibri"/>
                <a:cs typeface="Calibri"/>
              </a:rPr>
              <a:t>200.9 / 201.1</a:t>
            </a:r>
          </a:p>
          <a:p>
            <a:pPr algn="l">
              <a:spcBef>
                <a:spcPts val="0"/>
              </a:spcBef>
              <a:spcAft>
                <a:spcPts val="400"/>
              </a:spcAft>
            </a:pPr>
            <a:r>
              <a:rPr sz="1100" b="0">
                <a:solidFill>
                  <a:srgbClr val="5E584F"/>
                </a:solidFill>
                <a:latin typeface="Calibri"/>
                <a:ea typeface="Calibri"/>
                <a:cs typeface="Calibri"/>
              </a:rPr>
              <a:t>Bags 2 and 3</a:t>
            </a:r>
          </a:p>
        </p:txBody>
      </p:sp>
      <p:sp>
        <p:nvSpPr>
          <p:cNvPr id="9" name="Rectangle 8"/>
          <p:cNvSpPr/>
          <p:nvPr/>
        </p:nvSpPr>
        <p:spPr>
          <a:xfrm>
            <a:off x="5065776" y="1097280"/>
            <a:ext cx="2240280" cy="7772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6" y="1152144"/>
            <a:ext cx="2057400" cy="658368"/>
          </a:xfrm>
          <a:prstGeom prst="rect">
            <a:avLst/>
          </a:prstGeom>
          <a:noFill/>
        </p:spPr>
        <p:txBody>
          <a:bodyPr wrap="square" anchor="t"/>
          <a:lstStyle/>
          <a:p>
            <a:pPr algn="l">
              <a:spcBef>
                <a:spcPts val="0"/>
              </a:spcBef>
              <a:spcAft>
                <a:spcPts val="0"/>
              </a:spcAft>
            </a:pPr>
            <a:r>
              <a:rPr sz="1800" b="1">
                <a:solidFill>
                  <a:srgbClr val="1C1915"/>
                </a:solidFill>
                <a:latin typeface="Calibri"/>
                <a:ea typeface="Calibri"/>
                <a:cs typeface="Calibri"/>
              </a:rPr>
              <a:t>201.03 g</a:t>
            </a:r>
          </a:p>
          <a:p>
            <a:pPr algn="l">
              <a:spcBef>
                <a:spcPts val="0"/>
              </a:spcBef>
              <a:spcAft>
                <a:spcPts val="400"/>
              </a:spcAft>
            </a:pPr>
            <a:r>
              <a:rPr sz="1100" b="0">
                <a:solidFill>
                  <a:srgbClr val="5E584F"/>
                </a:solidFill>
                <a:latin typeface="Calibri"/>
                <a:ea typeface="Calibri"/>
                <a:cs typeface="Calibri"/>
              </a:rPr>
              <a:t>Mean of 50, SD 0.60</a:t>
            </a:r>
          </a:p>
        </p:txBody>
      </p:sp>
      <p:sp>
        <p:nvSpPr>
          <p:cNvPr id="11" name="Rectangle 10"/>
          <p:cNvSpPr/>
          <p:nvPr/>
        </p:nvSpPr>
        <p:spPr>
          <a:xfrm>
            <a:off x="7406640" y="1097280"/>
            <a:ext cx="2240280" cy="7772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152144"/>
            <a:ext cx="2057400" cy="658368"/>
          </a:xfrm>
          <a:prstGeom prst="rect">
            <a:avLst/>
          </a:prstGeom>
          <a:noFill/>
        </p:spPr>
        <p:txBody>
          <a:bodyPr wrap="square" anchor="t"/>
          <a:lstStyle/>
          <a:p>
            <a:pPr algn="l">
              <a:spcBef>
                <a:spcPts val="0"/>
              </a:spcBef>
              <a:spcAft>
                <a:spcPts val="0"/>
              </a:spcAft>
            </a:pPr>
            <a:r>
              <a:rPr sz="1800" b="1">
                <a:solidFill>
                  <a:srgbClr val="1C1915"/>
                </a:solidFill>
                <a:latin typeface="Calibri"/>
                <a:ea typeface="Calibri"/>
                <a:cs typeface="Calibri"/>
              </a:rPr>
              <a:t>200.98 g</a:t>
            </a:r>
          </a:p>
          <a:p>
            <a:pPr algn="l">
              <a:spcBef>
                <a:spcPts val="0"/>
              </a:spcBef>
              <a:spcAft>
                <a:spcPts val="400"/>
              </a:spcAft>
            </a:pPr>
            <a:r>
              <a:rPr sz="1100" b="0">
                <a:solidFill>
                  <a:srgbClr val="5E584F"/>
                </a:solidFill>
                <a:latin typeface="Calibri"/>
                <a:ea typeface="Calibri"/>
                <a:cs typeface="Calibri"/>
              </a:rPr>
              <a:t>Without bag 1, SD 0.50</a:t>
            </a:r>
          </a:p>
        </p:txBody>
      </p:sp>
      <p:sp>
        <p:nvSpPr>
          <p:cNvPr id="13" name="Rectangle 12"/>
          <p:cNvSpPr/>
          <p:nvPr/>
        </p:nvSpPr>
        <p:spPr>
          <a:xfrm>
            <a:off x="9747504" y="1097280"/>
            <a:ext cx="2240280" cy="7772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38944" y="1152144"/>
            <a:ext cx="2057400" cy="658368"/>
          </a:xfrm>
          <a:prstGeom prst="rect">
            <a:avLst/>
          </a:prstGeom>
          <a:noFill/>
        </p:spPr>
        <p:txBody>
          <a:bodyPr wrap="square" anchor="t"/>
          <a:lstStyle/>
          <a:p>
            <a:pPr algn="l">
              <a:spcBef>
                <a:spcPts val="0"/>
              </a:spcBef>
              <a:spcAft>
                <a:spcPts val="0"/>
              </a:spcAft>
            </a:pPr>
            <a:r>
              <a:rPr sz="1800" b="1">
                <a:solidFill>
                  <a:srgbClr val="1C1915"/>
                </a:solidFill>
                <a:latin typeface="Calibri"/>
                <a:ea typeface="Calibri"/>
                <a:cs typeface="Calibri"/>
              </a:rPr>
              <a:t>49 / 50</a:t>
            </a:r>
          </a:p>
          <a:p>
            <a:pPr algn="l">
              <a:spcBef>
                <a:spcPts val="0"/>
              </a:spcBef>
              <a:spcAft>
                <a:spcPts val="400"/>
              </a:spcAft>
            </a:pPr>
            <a:r>
              <a:rPr sz="1100" b="0">
                <a:solidFill>
                  <a:srgbClr val="5E584F"/>
                </a:solidFill>
                <a:latin typeface="Calibri"/>
                <a:ea typeface="Calibri"/>
                <a:cs typeface="Calibri"/>
              </a:rPr>
              <a:t>Inside 200 ± 2 g</a:t>
            </a:r>
          </a:p>
        </p:txBody>
      </p:sp>
      <p:sp>
        <p:nvSpPr>
          <p:cNvPr id="15" name="Rectangle 14"/>
          <p:cNvSpPr/>
          <p:nvPr/>
        </p:nvSpPr>
        <p:spPr>
          <a:xfrm>
            <a:off x="384048" y="2011680"/>
            <a:ext cx="5669280" cy="429768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121408"/>
            <a:ext cx="5394960" cy="4069080"/>
          </a:xfrm>
          <a:prstGeom prst="rect">
            <a:avLst/>
          </a:prstGeom>
          <a:noFill/>
        </p:spPr>
        <p:txBody>
          <a:bodyPr wrap="square" anchor="t"/>
          <a:lstStyle/>
          <a:p>
            <a:pPr algn="l">
              <a:spcBef>
                <a:spcPts val="0"/>
              </a:spcBef>
              <a:spcAft>
                <a:spcPts val="400"/>
              </a:spcAft>
            </a:pPr>
            <a:r>
              <a:rPr sz="1200" b="1">
                <a:solidFill>
                  <a:srgbClr val="9A3B12"/>
                </a:solidFill>
                <a:latin typeface="Calibri"/>
                <a:ea typeface="Calibri"/>
                <a:cs typeface="Calibri"/>
              </a:rPr>
              <a:t>ISSUE</a:t>
            </a:r>
          </a:p>
          <a:p>
            <a:pPr algn="l">
              <a:spcBef>
                <a:spcPts val="0"/>
              </a:spcBef>
              <a:spcAft>
                <a:spcPts val="400"/>
              </a:spcAft>
            </a:pPr>
            <a:r>
              <a:rPr sz="1300" b="0">
                <a:solidFill>
                  <a:srgbClr val="1C1915"/>
                </a:solidFill>
                <a:latin typeface="Calibri"/>
                <a:ea typeface="Calibri"/>
                <a:cs typeface="Calibri"/>
              </a:rPr>
              <a:t>The first three bags were weighed on Ishida and on MT. The two numbers do not match.</a:t>
            </a:r>
          </a:p>
          <a:p>
            <a:pPr algn="l">
              <a:spcBef>
                <a:spcPts val="0"/>
              </a:spcBef>
              <a:spcAft>
                <a:spcPts val="400"/>
              </a:spcAft>
            </a:pPr>
            <a:r>
              <a:rPr sz="1300" b="0">
                <a:solidFill>
                  <a:srgbClr val="1C1915"/>
                </a:solidFill>
                <a:latin typeface="Calibri"/>
                <a:ea typeface="Calibri"/>
                <a:cs typeface="Calibri"/>
              </a:rPr>
              <a:t>Ishida side: 203.4, 200.9, 201.1 g. Mean of the first three is 201.80 g. Mean of bags 4–50 is 200.98 g. Almost all of that gap is bag 1.</a:t>
            </a:r>
          </a:p>
          <a:p>
            <a:pPr algn="l">
              <a:spcBef>
                <a:spcPts val="0"/>
              </a:spcBef>
              <a:spcAft>
                <a:spcPts val="400"/>
              </a:spcAft>
            </a:pPr>
            <a:r>
              <a:rPr sz="1300" b="0">
                <a:solidFill>
                  <a:srgbClr val="1C1915"/>
                </a:solidFill>
                <a:latin typeface="Calibri"/>
                <a:ea typeface="Calibri"/>
                <a:cs typeface="Calibri"/>
              </a:rPr>
              <a:t>Range is 4.0 g (199.4–203.4). Only bag 5 (199.8 g) and bag 6 (199.4 g) are under 200 g.</a:t>
            </a:r>
          </a:p>
          <a:p>
            <a:pPr algn="l">
              <a:spcBef>
                <a:spcPts val="0"/>
              </a:spcBef>
              <a:spcAft>
                <a:spcPts val="400"/>
              </a:spcAft>
            </a:pPr>
            <a:r>
              <a:rPr sz="1300" b="0">
                <a:solidFill>
                  <a:srgbClr val="1C1915"/>
                </a:solidFill>
                <a:latin typeface="Calibri"/>
                <a:ea typeface="Calibri"/>
                <a:cs typeface="Calibri"/>
              </a:rPr>
              <a:t>On-screen Average, S.D., MAX, MIN, and Range are 0. That column was not calculated. Figures below are from the 50 lines.</a:t>
            </a:r>
          </a:p>
          <a:p>
            <a:pPr algn="l">
              <a:spcBef>
                <a:spcPts val="0"/>
              </a:spcBef>
              <a:spcAft>
                <a:spcPts val="400"/>
              </a:spcAft>
            </a:pPr>
            <a:r>
              <a:rPr sz="1300" b="0">
                <a:solidFill>
                  <a:srgbClr val="1C1915"/>
                </a:solidFill>
                <a:latin typeface="Calibri"/>
                <a:ea typeface="Calibri"/>
                <a:cs typeface="Calibri"/>
              </a:rPr>
              <a:t>T.Weight 11.2 kg, T.Count 56. The 50 bags add up to 10.052 kg. The extra 6 dumps have no bag number.</a:t>
            </a:r>
          </a:p>
          <a:p>
            <a:pPr algn="l">
              <a:spcBef>
                <a:spcPts val="0"/>
              </a:spcBef>
              <a:spcAft>
                <a:spcPts val="400"/>
              </a:spcAft>
            </a:pPr>
            <a:r>
              <a:rPr sz="1200" b="0">
                <a:solidFill>
                  <a:srgbClr val="5E584F"/>
                </a:solidFill>
                <a:latin typeface="Calibri"/>
                <a:ea typeface="Calibri"/>
                <a:cs typeface="Calibri"/>
              </a:rPr>
              <a:t>CLR 10:44, machine time 11:38, photo time 11:27. No written tolerance was provided. This is the spread around 200 g.</a:t>
            </a:r>
          </a:p>
        </p:txBody>
      </p:sp>
      <p:sp>
        <p:nvSpPr>
          <p:cNvPr id="17" name="Rectangle 16"/>
          <p:cNvSpPr/>
          <p:nvPr/>
        </p:nvSpPr>
        <p:spPr>
          <a:xfrm>
            <a:off x="6217920" y="2011680"/>
            <a:ext cx="5577840" cy="429768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121408"/>
            <a:ext cx="5303520" cy="4069080"/>
          </a:xfrm>
          <a:prstGeom prst="rect">
            <a:avLst/>
          </a:prstGeom>
          <a:noFill/>
        </p:spPr>
        <p:txBody>
          <a:bodyPr wrap="square" anchor="t"/>
          <a:lstStyle/>
          <a:p>
            <a:pPr algn="l">
              <a:spcBef>
                <a:spcPts val="0"/>
              </a:spcBef>
              <a:spcAft>
                <a:spcPts val="400"/>
              </a:spcAft>
            </a:pPr>
            <a:r>
              <a:rPr sz="1200" b="1">
                <a:solidFill>
                  <a:srgbClr val="1E4D78"/>
                </a:solidFill>
                <a:latin typeface="Calibri"/>
                <a:ea typeface="Calibri"/>
                <a:cs typeface="Calibri"/>
              </a:rPr>
              <a:t>ROOT CAUSE</a:t>
            </a:r>
          </a:p>
          <a:p>
            <a:pPr algn="l">
              <a:spcBef>
                <a:spcPts val="0"/>
              </a:spcBef>
              <a:spcAft>
                <a:spcPts val="400"/>
              </a:spcAft>
            </a:pPr>
            <a:r>
              <a:rPr sz="1300" b="0">
                <a:solidFill>
                  <a:srgbClr val="1C1915"/>
                </a:solidFill>
                <a:latin typeface="Calibri"/>
                <a:ea typeface="Calibri"/>
                <a:cs typeface="Calibri"/>
              </a:rPr>
              <a:t>Seen: bag 1 is heavy. The chute and grate hold residue. Hard lumps sit on the hopper powder.</a:t>
            </a:r>
          </a:p>
          <a:p>
            <a:pPr algn="l">
              <a:spcBef>
                <a:spcPts val="0"/>
              </a:spcBef>
              <a:spcAft>
                <a:spcPts val="400"/>
              </a:spcAft>
            </a:pPr>
            <a:r>
              <a:rPr sz="1300" b="0">
                <a:solidFill>
                  <a:srgbClr val="1C1915"/>
                </a:solidFill>
                <a:latin typeface="Calibri"/>
                <a:ea typeface="Calibri"/>
                <a:cs typeface="Calibri"/>
              </a:rPr>
              <a:t>Inferred: Ishida counts the hopper before discharge. Powder stuck on the gate or wall is missing from the bag MT weighs. The next bag can run heavy if that residue lets go. Bag 1 at +3.4 g fits a startup slug.</a:t>
            </a:r>
          </a:p>
          <a:p>
            <a:pPr algn="l">
              <a:spcBef>
                <a:spcPts val="0"/>
              </a:spcBef>
              <a:spcAft>
                <a:spcPts val="400"/>
              </a:spcAft>
            </a:pPr>
            <a:r>
              <a:rPr sz="1300" b="0">
                <a:solidFill>
                  <a:srgbClr val="1C1915"/>
                </a:solidFill>
                <a:latin typeface="Calibri"/>
                <a:ea typeface="Calibri"/>
                <a:cs typeface="Calibri"/>
              </a:rPr>
              <a:t>Inferred: if bags 2 and 3 still miss MT, that looks like a fixed offset — tare, or a thin film on every bag.</a:t>
            </a:r>
          </a:p>
          <a:p>
            <a:pPr algn="l">
              <a:spcBef>
                <a:spcPts val="0"/>
              </a:spcBef>
              <a:spcAft>
                <a:spcPts val="400"/>
              </a:spcAft>
            </a:pPr>
            <a:r>
              <a:rPr sz="1300" b="0">
                <a:solidFill>
                  <a:srgbClr val="1C1915"/>
                </a:solidFill>
                <a:latin typeface="Calibri"/>
                <a:ea typeface="Calibri"/>
                <a:cs typeface="Calibri"/>
              </a:rPr>
              <a:t>Missing: the three MT readings, the empty-bag tare, and proof both scales weighed the same bag. The gram gap cannot be stated.</a:t>
            </a:r>
          </a:p>
          <a:p>
            <a:pPr algn="l">
              <a:spcBef>
                <a:spcPts val="0"/>
              </a:spcBef>
              <a:spcAft>
                <a:spcPts val="400"/>
              </a:spcAft>
            </a:pPr>
            <a:r>
              <a:rPr sz="1300" b="0">
                <a:solidFill>
                  <a:srgbClr val="1C1915"/>
                </a:solidFill>
                <a:latin typeface="Calibri"/>
                <a:ea typeface="Calibri"/>
                <a:cs typeface="Calibri"/>
              </a:rPr>
              <a:t>Ruled out: Unit 5 was calibrated at 600 g. The 200 / 400 / 600 g checks passed. The load cell is not the cause.</a:t>
            </a:r>
          </a:p>
        </p:txBody>
      </p:sp>
      <p:sp>
        <p:nvSpPr>
          <p:cNvPr id="19" name="TextBox 18"/>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Detail and the curve are on the next page</a:t>
            </a:r>
          </a:p>
        </p:txBody>
      </p:sp>
      <p:sp>
        <p:nvSpPr>
          <p:cNvPr id="20" name="TextBox 19"/>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ISSUE 1 · 50-BAG DETAIL</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One startup bag runs high. The rest sit near 201 g.</a:t>
            </a:r>
          </a:p>
        </p:txBody>
      </p:sp>
      <p:pic>
        <p:nvPicPr>
          <p:cNvPr id="5" name="Picture 4" descr="sda-chart-en.png"/>
          <p:cNvPicPr>
            <a:picLocks noChangeAspect="1"/>
          </p:cNvPicPr>
          <p:nvPr/>
        </p:nvPicPr>
        <p:blipFill>
          <a:blip r:embed="rId2"/>
          <a:stretch>
            <a:fillRect/>
          </a:stretch>
        </p:blipFill>
        <p:spPr>
          <a:xfrm>
            <a:off x="320040" y="1051560"/>
            <a:ext cx="11521440" cy="2880360"/>
          </a:xfrm>
          <a:prstGeom prst="rect">
            <a:avLst/>
          </a:prstGeom>
        </p:spPr>
      </p:pic>
      <p:sp>
        <p:nvSpPr>
          <p:cNvPr id="6" name="TextBox 5"/>
          <p:cNvSpPr txBox="1"/>
          <p:nvPr/>
        </p:nvSpPr>
        <p:spPr>
          <a:xfrm>
            <a:off x="411480" y="3931920"/>
            <a:ext cx="11338560" cy="274320"/>
          </a:xfrm>
          <a:prstGeom prst="rect">
            <a:avLst/>
          </a:prstGeom>
          <a:noFill/>
        </p:spPr>
        <p:txBody>
          <a:bodyPr wrap="square" anchor="t"/>
          <a:lstStyle/>
          <a:p>
            <a:pPr algn="l">
              <a:spcBef>
                <a:spcPts val="0"/>
              </a:spcBef>
              <a:spcAft>
                <a:spcPts val="400"/>
              </a:spcAft>
            </a:pPr>
            <a:r>
              <a:rPr sz="1200" b="0">
                <a:solidFill>
                  <a:srgbClr val="5E584F"/>
                </a:solidFill>
                <a:latin typeface="Calibri"/>
                <a:ea typeface="Calibri"/>
                <a:cs typeface="Calibri"/>
              </a:rPr>
              <a:t>Orange points are above 201.5 g. Blue points are below 200 g: bags 5 and 6 only. The orange line is 200 g. Versus 200 g: ±1 g holds 31 bags (62%), ±2 g holds 49 (98%).</a:t>
            </a:r>
          </a:p>
        </p:txBody>
      </p:sp>
      <p:sp>
        <p:nvSpPr>
          <p:cNvPr id="7" name="TextBox 6"/>
          <p:cNvSpPr txBox="1"/>
          <p:nvPr/>
        </p:nvSpPr>
        <p:spPr>
          <a:xfrm>
            <a:off x="411480" y="4251960"/>
            <a:ext cx="11430000" cy="2011680"/>
          </a:xfrm>
          <a:prstGeom prst="rect">
            <a:avLst/>
          </a:prstGeom>
          <a:noFill/>
        </p:spPr>
        <p:txBody>
          <a:bodyPr wrap="square" anchor="t"/>
          <a:lstStyle/>
          <a:p>
            <a:pPr algn="l">
              <a:spcBef>
                <a:spcPts val="0"/>
              </a:spcBef>
              <a:spcAft>
                <a:spcPts val="200"/>
              </a:spcAft>
            </a:pPr>
            <a:r>
              <a:rPr sz="1100" b="0">
                <a:solidFill>
                  <a:srgbClr val="1C1915"/>
                </a:solidFill>
                <a:latin typeface="Calibri"/>
                <a:ea typeface="Calibri"/>
                <a:cs typeface="Calibri"/>
              </a:rPr>
              <a:t>01 203.4   02 200.9   03 201.1   04 200.3   05 199.8   06 199.4   07 201.0   08 201.5   09 200.8   10 201.1</a:t>
            </a:r>
          </a:p>
          <a:p>
            <a:pPr algn="l">
              <a:spcBef>
                <a:spcPts val="0"/>
              </a:spcBef>
              <a:spcAft>
                <a:spcPts val="200"/>
              </a:spcAft>
            </a:pPr>
            <a:r>
              <a:rPr sz="1100" b="0">
                <a:solidFill>
                  <a:srgbClr val="1C1915"/>
                </a:solidFill>
                <a:latin typeface="Calibri"/>
                <a:ea typeface="Calibri"/>
                <a:cs typeface="Calibri"/>
              </a:rPr>
              <a:t>11 201.8   12 200.4   13 201.2   14 200.8   15 200.7   16 200.7   17 201.0   18 201.0   19 200.9   20 201.4</a:t>
            </a:r>
          </a:p>
          <a:p>
            <a:pPr algn="l">
              <a:spcBef>
                <a:spcPts val="0"/>
              </a:spcBef>
              <a:spcAft>
                <a:spcPts val="200"/>
              </a:spcAft>
            </a:pPr>
            <a:r>
              <a:rPr sz="1100" b="0">
                <a:solidFill>
                  <a:srgbClr val="1C1915"/>
                </a:solidFill>
                <a:latin typeface="Calibri"/>
                <a:ea typeface="Calibri"/>
                <a:cs typeface="Calibri"/>
              </a:rPr>
              <a:t>21 200.6   22 200.9   23 201.0   24 201.1   25 201.1   26 200.6   27 201.6   28 201.4   29 201.6   30 202.0</a:t>
            </a:r>
          </a:p>
          <a:p>
            <a:pPr algn="l">
              <a:spcBef>
                <a:spcPts val="0"/>
              </a:spcBef>
              <a:spcAft>
                <a:spcPts val="200"/>
              </a:spcAft>
            </a:pPr>
            <a:r>
              <a:rPr sz="1100" b="0">
                <a:solidFill>
                  <a:srgbClr val="1C1915"/>
                </a:solidFill>
                <a:latin typeface="Calibri"/>
                <a:ea typeface="Calibri"/>
                <a:cs typeface="Calibri"/>
              </a:rPr>
              <a:t>31 201.6   32 202.0   33 201.8   34 201.6   35 201.4   36 201.0   37 200.9   38 200.7   39 201.2   40 200.8</a:t>
            </a:r>
          </a:p>
          <a:p>
            <a:pPr algn="l">
              <a:spcBef>
                <a:spcPts val="0"/>
              </a:spcBef>
              <a:spcAft>
                <a:spcPts val="200"/>
              </a:spcAft>
            </a:pPr>
            <a:r>
              <a:rPr sz="1100" b="0">
                <a:solidFill>
                  <a:srgbClr val="1C1915"/>
                </a:solidFill>
                <a:latin typeface="Calibri"/>
                <a:ea typeface="Calibri"/>
                <a:cs typeface="Calibri"/>
              </a:rPr>
              <a:t>41 201.0   42 200.8   43 200.8   44 200.6   45 200.8   46 200.6   47 200.8   48 200.7   49 200.6   50 200.8</a:t>
            </a:r>
          </a:p>
        </p:txBody>
      </p:sp>
      <p:sp>
        <p:nvSpPr>
          <p:cNvPr id="8" name="TextBox 7"/>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Source: Ishida 3 Log 1 window. The statistics column is 0 and was not used.</a:t>
            </a:r>
          </a:p>
        </p:txBody>
      </p:sp>
      <p:sp>
        <p:nvSpPr>
          <p:cNvPr id="9" name="TextBox 8"/>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ISSUE 2 · CUT GATE</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Lumps blocked the gate. Longer vibration is containment, not the fix.</a:t>
            </a:r>
          </a:p>
        </p:txBody>
      </p:sp>
      <p:pic>
        <p:nvPicPr>
          <p:cNvPr id="5" name="Picture 4" descr="ppt-lumps-tall.jpg"/>
          <p:cNvPicPr>
            <a:picLocks noChangeAspect="1"/>
          </p:cNvPicPr>
          <p:nvPr/>
        </p:nvPicPr>
        <p:blipFill>
          <a:blip r:embed="rId2"/>
          <a:stretch>
            <a:fillRect/>
          </a:stretch>
        </p:blipFill>
        <p:spPr>
          <a:xfrm>
            <a:off x="365760" y="1143000"/>
            <a:ext cx="2880360" cy="5120640"/>
          </a:xfrm>
          <a:prstGeom prst="rect">
            <a:avLst/>
          </a:prstGeom>
        </p:spPr>
      </p:pic>
      <p:sp>
        <p:nvSpPr>
          <p:cNvPr id="6" name="Rectangle 5"/>
          <p:cNvSpPr/>
          <p:nvPr/>
        </p:nvSpPr>
        <p:spPr>
          <a:xfrm>
            <a:off x="3383280" y="1143000"/>
            <a:ext cx="4206240" cy="51206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280160"/>
            <a:ext cx="3931920" cy="4846320"/>
          </a:xfrm>
          <a:prstGeom prst="rect">
            <a:avLst/>
          </a:prstGeom>
          <a:noFill/>
        </p:spPr>
        <p:txBody>
          <a:bodyPr wrap="square" anchor="t"/>
          <a:lstStyle/>
          <a:p>
            <a:pPr algn="l">
              <a:spcBef>
                <a:spcPts val="0"/>
              </a:spcBef>
              <a:spcAft>
                <a:spcPts val="400"/>
              </a:spcAft>
            </a:pPr>
            <a:r>
              <a:rPr sz="1200" b="1">
                <a:solidFill>
                  <a:srgbClr val="9A3B12"/>
                </a:solidFill>
                <a:latin typeface="Calibri"/>
                <a:ea typeface="Calibri"/>
                <a:cs typeface="Calibri"/>
              </a:rPr>
              <a:t>ISSUE</a:t>
            </a:r>
          </a:p>
          <a:p>
            <a:pPr algn="l">
              <a:spcBef>
                <a:spcPts val="0"/>
              </a:spcBef>
              <a:spcAft>
                <a:spcPts val="400"/>
              </a:spcAft>
            </a:pPr>
            <a:r>
              <a:rPr sz="1400" b="0">
                <a:solidFill>
                  <a:srgbClr val="1C1915"/>
                </a:solidFill>
                <a:latin typeface="Calibri"/>
                <a:ea typeface="Calibri"/>
                <a:cs typeface="Calibri"/>
              </a:rPr>
              <a:t>SDA lumps blocked the cut gate.</a:t>
            </a:r>
          </a:p>
          <a:p>
            <a:pPr algn="l">
              <a:spcBef>
                <a:spcPts val="0"/>
              </a:spcBef>
              <a:spcAft>
                <a:spcPts val="400"/>
              </a:spcAft>
            </a:pPr>
            <a:r>
              <a:rPr sz="1400" b="0">
                <a:solidFill>
                  <a:srgbClr val="1C1915"/>
                </a:solidFill>
                <a:latin typeface="Calibri"/>
                <a:ea typeface="Calibri"/>
                <a:cs typeface="Calibri"/>
              </a:rPr>
              <a:t>Vibration time was lengthened to move the blocked powder.</a:t>
            </a:r>
          </a:p>
          <a:p>
            <a:pPr algn="l">
              <a:spcBef>
                <a:spcPts val="0"/>
              </a:spcBef>
              <a:spcAft>
                <a:spcPts val="400"/>
              </a:spcAft>
            </a:pPr>
            <a:r>
              <a:rPr sz="1400" b="0">
                <a:solidFill>
                  <a:srgbClr val="1C1915"/>
                </a:solidFill>
                <a:latin typeface="Calibri"/>
                <a:ea typeface="Calibri"/>
                <a:cs typeface="Calibri"/>
              </a:rPr>
              <a:t>The photo shows hard lumps on the hopper powder. The edges stay sharp.</a:t>
            </a:r>
          </a:p>
          <a:p>
            <a:pPr algn="l">
              <a:spcBef>
                <a:spcPts val="0"/>
              </a:spcBef>
              <a:spcAft>
                <a:spcPts val="400"/>
              </a:spcAft>
            </a:pPr>
            <a:r>
              <a:rPr sz="1400" b="0">
                <a:solidFill>
                  <a:srgbClr val="1C1915"/>
                </a:solidFill>
                <a:latin typeface="Calibri"/>
                <a:ea typeface="Calibri"/>
                <a:cs typeface="Calibri"/>
              </a:rPr>
              <a:t>The clip is about 6 seconds and the machine is stopped. The jam itself is a line record.</a:t>
            </a:r>
          </a:p>
          <a:p>
            <a:pPr algn="l">
              <a:spcBef>
                <a:spcPts val="0"/>
              </a:spcBef>
              <a:spcAft>
                <a:spcPts val="400"/>
              </a:spcAft>
            </a:pPr>
            <a:r>
              <a:rPr sz="1200" b="0">
                <a:solidFill>
                  <a:srgbClr val="5E584F"/>
                </a:solidFill>
                <a:latin typeface="Calibri"/>
                <a:ea typeface="Calibri"/>
                <a:cs typeface="Calibri"/>
              </a:rPr>
              <a:t>Play media/lumps.mp4 in the HTML deck.</a:t>
            </a:r>
          </a:p>
        </p:txBody>
      </p:sp>
      <p:sp>
        <p:nvSpPr>
          <p:cNvPr id="8" name="Rectangle 7"/>
          <p:cNvSpPr/>
          <p:nvPr/>
        </p:nvSpPr>
        <p:spPr>
          <a:xfrm>
            <a:off x="7726679" y="1143000"/>
            <a:ext cx="4069080" cy="5120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280160"/>
            <a:ext cx="3794760" cy="4846320"/>
          </a:xfrm>
          <a:prstGeom prst="rect">
            <a:avLst/>
          </a:prstGeom>
          <a:noFill/>
        </p:spPr>
        <p:txBody>
          <a:bodyPr wrap="square" anchor="t"/>
          <a:lstStyle/>
          <a:p>
            <a:pPr algn="l">
              <a:spcBef>
                <a:spcPts val="0"/>
              </a:spcBef>
              <a:spcAft>
                <a:spcPts val="400"/>
              </a:spcAft>
            </a:pPr>
            <a:r>
              <a:rPr sz="1200" b="1">
                <a:solidFill>
                  <a:srgbClr val="1E4D78"/>
                </a:solidFill>
                <a:latin typeface="Calibri"/>
                <a:ea typeface="Calibri"/>
                <a:cs typeface="Calibri"/>
              </a:rPr>
              <a:t>ROOT CAUSE</a:t>
            </a:r>
          </a:p>
          <a:p>
            <a:pPr algn="l">
              <a:spcBef>
                <a:spcPts val="0"/>
              </a:spcBef>
              <a:spcAft>
                <a:spcPts val="400"/>
              </a:spcAft>
            </a:pPr>
            <a:r>
              <a:rPr sz="1300" b="0">
                <a:solidFill>
                  <a:srgbClr val="1C1915"/>
                </a:solidFill>
                <a:latin typeface="Calibri"/>
                <a:ea typeface="Calibri"/>
                <a:cs typeface="Calibri"/>
              </a:rPr>
              <a:t>Seen: the lumps are in the hopper before the gate.</a:t>
            </a:r>
          </a:p>
          <a:p>
            <a:pPr algn="l">
              <a:spcBef>
                <a:spcPts val="0"/>
              </a:spcBef>
              <a:spcAft>
                <a:spcPts val="400"/>
              </a:spcAft>
            </a:pPr>
            <a:r>
              <a:rPr sz="1300" b="0">
                <a:solidFill>
                  <a:srgbClr val="1C1915"/>
                </a:solidFill>
                <a:latin typeface="Calibri"/>
                <a:ea typeface="Calibri"/>
                <a:cs typeface="Calibri"/>
              </a:rPr>
              <a:t>Inferred: sticky fines pack the gap around a lump and build a bridge. Flow stops, and the gate does not close clean.</a:t>
            </a:r>
          </a:p>
          <a:p>
            <a:pPr algn="l">
              <a:spcBef>
                <a:spcPts val="0"/>
              </a:spcBef>
              <a:spcAft>
                <a:spcPts val="400"/>
              </a:spcAft>
            </a:pPr>
            <a:r>
              <a:rPr sz="1300" b="0">
                <a:solidFill>
                  <a:srgbClr val="1C1915"/>
                </a:solidFill>
                <a:latin typeface="Calibri"/>
                <a:ea typeface="Calibri"/>
                <a:cs typeface="Calibri"/>
              </a:rPr>
              <a:t>Inferred: the original vibration time was shorter than this lot needed to break the bridge.</a:t>
            </a:r>
          </a:p>
          <a:p>
            <a:pPr algn="l">
              <a:spcBef>
                <a:spcPts val="0"/>
              </a:spcBef>
              <a:spcAft>
                <a:spcPts val="400"/>
              </a:spcAft>
            </a:pPr>
            <a:r>
              <a:rPr sz="1300" b="0">
                <a:solidFill>
                  <a:srgbClr val="1C1915"/>
                </a:solidFill>
                <a:latin typeface="Calibri"/>
                <a:ea typeface="Calibri"/>
                <a:cs typeface="Calibri"/>
              </a:rPr>
              <a:t>Limit: longer vibration does not remove lumps from the raw material. Too long, the hopper is overfed and powder is smeared further. The 11:27 lines do not show before versus after.</a:t>
            </a:r>
          </a:p>
          <a:p>
            <a:pPr algn="l">
              <a:spcBef>
                <a:spcPts val="0"/>
              </a:spcBef>
              <a:spcAft>
                <a:spcPts val="400"/>
              </a:spcAft>
            </a:pPr>
            <a:r>
              <a:rPr sz="1300" b="0">
                <a:solidFill>
                  <a:srgbClr val="1C1915"/>
                </a:solidFill>
                <a:latin typeface="Calibri"/>
                <a:ea typeface="Calibri"/>
                <a:cs typeface="Calibri"/>
              </a:rPr>
              <a:t>Rerun after the change. Bag 1 should not be 203.4 g again.</a:t>
            </a:r>
          </a:p>
        </p:txBody>
      </p:sp>
      <p:sp>
        <p:nvSpPr>
          <p:cNvPr id="10" name="TextBox 9"/>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Video VID-20261001-WA0006</a:t>
            </a:r>
          </a:p>
        </p:txBody>
      </p:sp>
      <p:sp>
        <p:nvSpPr>
          <p:cNvPr id="11" name="TextBox 10"/>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ISSUE 3 · STICKING</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Powder stuck on the discharge path. That film is the bag-weight gap.</a:t>
            </a:r>
          </a:p>
        </p:txBody>
      </p:sp>
      <p:pic>
        <p:nvPicPr>
          <p:cNvPr id="5" name="Picture 4" descr="ppt-chute-tall.jpg"/>
          <p:cNvPicPr>
            <a:picLocks noChangeAspect="1"/>
          </p:cNvPicPr>
          <p:nvPr/>
        </p:nvPicPr>
        <p:blipFill>
          <a:blip r:embed="rId2"/>
          <a:stretch>
            <a:fillRect/>
          </a:stretch>
        </p:blipFill>
        <p:spPr>
          <a:xfrm>
            <a:off x="365760" y="1143000"/>
            <a:ext cx="3200400" cy="4160520"/>
          </a:xfrm>
          <a:prstGeom prst="rect">
            <a:avLst/>
          </a:prstGeom>
        </p:spPr>
      </p:pic>
      <p:pic>
        <p:nvPicPr>
          <p:cNvPr id="6" name="Picture 5" descr="ppt-grate-tall.jpg"/>
          <p:cNvPicPr>
            <a:picLocks noChangeAspect="1"/>
          </p:cNvPicPr>
          <p:nvPr/>
        </p:nvPicPr>
        <p:blipFill>
          <a:blip r:embed="rId3"/>
          <a:stretch>
            <a:fillRect/>
          </a:stretch>
        </p:blipFill>
        <p:spPr>
          <a:xfrm>
            <a:off x="3703320" y="1143000"/>
            <a:ext cx="3017520" cy="4160520"/>
          </a:xfrm>
          <a:prstGeom prst="rect">
            <a:avLst/>
          </a:prstGeom>
        </p:spPr>
      </p:pic>
      <p:sp>
        <p:nvSpPr>
          <p:cNvPr id="7" name="TextBox 6"/>
          <p:cNvSpPr txBox="1"/>
          <p:nvPr/>
        </p:nvSpPr>
        <p:spPr>
          <a:xfrm>
            <a:off x="365760" y="5349240"/>
            <a:ext cx="6309360" cy="960120"/>
          </a:xfrm>
          <a:prstGeom prst="rect">
            <a:avLst/>
          </a:prstGeom>
          <a:noFill/>
        </p:spPr>
        <p:txBody>
          <a:bodyPr wrap="square" anchor="t"/>
          <a:lstStyle/>
          <a:p>
            <a:pPr algn="l">
              <a:spcBef>
                <a:spcPts val="0"/>
              </a:spcBef>
              <a:spcAft>
                <a:spcPts val="400"/>
              </a:spcAft>
            </a:pPr>
            <a:r>
              <a:rPr sz="1200" b="0">
                <a:solidFill>
                  <a:srgbClr val="5E584F"/>
                </a:solidFill>
                <a:latin typeface="Calibri"/>
                <a:ea typeface="Calibri"/>
                <a:cs typeface="Calibri"/>
              </a:rPr>
              <a:t>Left: chute at 11:57, bright above the midline, filmed below. Right: grate caked on the right rim.</a:t>
            </a:r>
          </a:p>
          <a:p>
            <a:pPr algn="l">
              <a:spcBef>
                <a:spcPts val="0"/>
              </a:spcBef>
              <a:spcAft>
                <a:spcPts val="400"/>
              </a:spcAft>
            </a:pPr>
            <a:r>
              <a:rPr sz="1200" b="0">
                <a:solidFill>
                  <a:srgbClr val="5E584F"/>
                </a:solidFill>
                <a:latin typeface="Calibri"/>
                <a:ea typeface="Calibri"/>
                <a:cs typeface="Calibri"/>
              </a:rPr>
              <a:t>Play media/grate.mp4 in the HTML deck, about 10 seconds.</a:t>
            </a:r>
          </a:p>
        </p:txBody>
      </p:sp>
      <p:sp>
        <p:nvSpPr>
          <p:cNvPr id="8" name="Rectangle 7"/>
          <p:cNvSpPr/>
          <p:nvPr/>
        </p:nvSpPr>
        <p:spPr>
          <a:xfrm>
            <a:off x="6903720" y="1143000"/>
            <a:ext cx="4892040" cy="5120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280160"/>
            <a:ext cx="4617720" cy="4846320"/>
          </a:xfrm>
          <a:prstGeom prst="rect">
            <a:avLst/>
          </a:prstGeom>
          <a:noFill/>
        </p:spPr>
        <p:txBody>
          <a:bodyPr wrap="square" anchor="t"/>
          <a:lstStyle/>
          <a:p>
            <a:pPr algn="l">
              <a:spcBef>
                <a:spcPts val="0"/>
              </a:spcBef>
              <a:spcAft>
                <a:spcPts val="400"/>
              </a:spcAft>
            </a:pPr>
            <a:r>
              <a:rPr sz="1200" b="1">
                <a:solidFill>
                  <a:srgbClr val="1E4D78"/>
                </a:solidFill>
                <a:latin typeface="Calibri"/>
                <a:ea typeface="Calibri"/>
                <a:cs typeface="Calibri"/>
              </a:rPr>
              <a:t>ROOT CAUSE</a:t>
            </a:r>
          </a:p>
          <a:p>
            <a:pPr algn="l">
              <a:spcBef>
                <a:spcPts val="0"/>
              </a:spcBef>
              <a:spcAft>
                <a:spcPts val="400"/>
              </a:spcAft>
            </a:pPr>
            <a:r>
              <a:rPr sz="1300" b="0">
                <a:solidFill>
                  <a:srgbClr val="1C1915"/>
                </a:solidFill>
                <a:latin typeface="Calibri"/>
                <a:ea typeface="Calibri"/>
                <a:cs typeface="Calibri"/>
              </a:rPr>
              <a:t>Seen: the residue is a smeared film. The upper half is bare and the lower half is fogged, along the flow path.</a:t>
            </a:r>
          </a:p>
          <a:p>
            <a:pPr algn="l">
              <a:spcBef>
                <a:spcPts val="0"/>
              </a:spcBef>
              <a:spcAft>
                <a:spcPts val="400"/>
              </a:spcAft>
            </a:pPr>
            <a:r>
              <a:rPr sz="1300" b="0">
                <a:solidFill>
                  <a:srgbClr val="1C1915"/>
                </a:solidFill>
                <a:latin typeface="Calibri"/>
                <a:ea typeface="Calibri"/>
                <a:cs typeface="Calibri"/>
              </a:rPr>
              <a:t>Inferred: lumps are crushed at the gate and paint sticky fines onto the metal. New powder then sticks to the film.</a:t>
            </a:r>
          </a:p>
          <a:p>
            <a:pPr algn="l">
              <a:spcBef>
                <a:spcPts val="0"/>
              </a:spcBef>
              <a:spcAft>
                <a:spcPts val="400"/>
              </a:spcAft>
            </a:pPr>
            <a:r>
              <a:rPr sz="1300" b="0">
                <a:solidFill>
                  <a:srgbClr val="1C1915"/>
                </a:solidFill>
                <a:latin typeface="Calibri"/>
                <a:ea typeface="Calibri"/>
                <a:cs typeface="Calibri"/>
              </a:rPr>
              <a:t>Seen: the grate is caked on one side only. Powder stopped there.</a:t>
            </a:r>
          </a:p>
          <a:p>
            <a:pPr algn="l">
              <a:spcBef>
                <a:spcPts val="0"/>
              </a:spcBef>
              <a:spcAft>
                <a:spcPts val="400"/>
              </a:spcAft>
            </a:pPr>
            <a:r>
              <a:rPr sz="1300" b="0">
                <a:solidFill>
                  <a:srgbClr val="1C1915"/>
                </a:solidFill>
                <a:latin typeface="Calibri"/>
                <a:ea typeface="Calibri"/>
                <a:cs typeface="Calibri"/>
              </a:rPr>
              <a:t>Ruled out: HOBO 31.6% RH is inside 30–40% and on the dry side. No droplets. Room humidity is not this film.</a:t>
            </a:r>
          </a:p>
          <a:p>
            <a:pPr algn="l">
              <a:spcBef>
                <a:spcPts val="0"/>
              </a:spcBef>
              <a:spcAft>
                <a:spcPts val="400"/>
              </a:spcAft>
            </a:pPr>
            <a:r>
              <a:rPr sz="1300" b="0">
                <a:solidFill>
                  <a:srgbClr val="1C1915"/>
                </a:solidFill>
                <a:latin typeface="Calibri"/>
                <a:ea typeface="Calibri"/>
                <a:cs typeface="Calibri"/>
              </a:rPr>
              <a:t>Still to check: raw-material moisture, and whether the chute was dry after cleaning. Photograph it empty before the next feed.</a:t>
            </a:r>
          </a:p>
          <a:p>
            <a:pPr algn="l">
              <a:spcBef>
                <a:spcPts val="0"/>
              </a:spcBef>
              <a:spcAft>
                <a:spcPts val="400"/>
              </a:spcAft>
            </a:pPr>
            <a:r>
              <a:rPr sz="1300" b="1">
                <a:solidFill>
                  <a:srgbClr val="1C1915"/>
                </a:solidFill>
                <a:latin typeface="Calibri"/>
                <a:ea typeface="Calibri"/>
                <a:cs typeface="Calibri"/>
              </a:rPr>
              <a:t>This film is the mechanism of issue 1: grams counted in the hopper never entered the bag.</a:t>
            </a:r>
          </a:p>
        </p:txBody>
      </p:sp>
      <p:sp>
        <p:nvSpPr>
          <p:cNvPr id="10" name="TextBox 9"/>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Chute at 11:57 · grate video VID-20261001-WA0004</a:t>
            </a:r>
          </a:p>
        </p:txBody>
      </p:sp>
      <p:sp>
        <p:nvSpPr>
          <p:cNvPr id="11" name="TextBox 10"/>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ISSUE 4 · RAW MATERIAL</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Lumps are already in the hopper. Calibration passed, so the cause is the material.</a:t>
            </a:r>
          </a:p>
        </p:txBody>
      </p:sp>
      <p:pic>
        <p:nvPicPr>
          <p:cNvPr id="5" name="Picture 4" descr="ppt-lumps-wide2.jpg"/>
          <p:cNvPicPr>
            <a:picLocks noChangeAspect="1"/>
          </p:cNvPicPr>
          <p:nvPr/>
        </p:nvPicPr>
        <p:blipFill>
          <a:blip r:embed="rId2"/>
          <a:stretch>
            <a:fillRect/>
          </a:stretch>
        </p:blipFill>
        <p:spPr>
          <a:xfrm>
            <a:off x="365760" y="1143000"/>
            <a:ext cx="3017520" cy="5120640"/>
          </a:xfrm>
          <a:prstGeom prst="rect">
            <a:avLst/>
          </a:prstGeom>
        </p:spPr>
      </p:pic>
      <p:sp>
        <p:nvSpPr>
          <p:cNvPr id="6" name="Rectangle 5"/>
          <p:cNvSpPr/>
          <p:nvPr/>
        </p:nvSpPr>
        <p:spPr>
          <a:xfrm>
            <a:off x="3566160" y="1143000"/>
            <a:ext cx="4114800" cy="512064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1280160"/>
            <a:ext cx="3840480" cy="4846320"/>
          </a:xfrm>
          <a:prstGeom prst="rect">
            <a:avLst/>
          </a:prstGeom>
          <a:noFill/>
        </p:spPr>
        <p:txBody>
          <a:bodyPr wrap="square" anchor="t"/>
          <a:lstStyle/>
          <a:p>
            <a:pPr algn="l">
              <a:spcBef>
                <a:spcPts val="0"/>
              </a:spcBef>
              <a:spcAft>
                <a:spcPts val="400"/>
              </a:spcAft>
            </a:pPr>
            <a:r>
              <a:rPr sz="1200" b="1">
                <a:solidFill>
                  <a:srgbClr val="9A3B12"/>
                </a:solidFill>
                <a:latin typeface="Calibri"/>
                <a:ea typeface="Calibri"/>
                <a:cs typeface="Calibri"/>
              </a:rPr>
              <a:t>ISSUE</a:t>
            </a:r>
          </a:p>
          <a:p>
            <a:pPr algn="l">
              <a:spcBef>
                <a:spcPts val="0"/>
              </a:spcBef>
              <a:spcAft>
                <a:spcPts val="400"/>
              </a:spcAft>
            </a:pPr>
            <a:r>
              <a:rPr sz="1400" b="0">
                <a:solidFill>
                  <a:srgbClr val="1C1915"/>
                </a:solidFill>
                <a:latin typeface="Calibri"/>
                <a:ea typeface="Calibri"/>
                <a:cs typeface="Calibri"/>
              </a:rPr>
              <a:t>The raw material contains lumps. Cubes and flakes sit on the cone of fines. They do not sink in.</a:t>
            </a:r>
          </a:p>
          <a:p>
            <a:pPr algn="l">
              <a:spcBef>
                <a:spcPts val="0"/>
              </a:spcBef>
              <a:spcAft>
                <a:spcPts val="400"/>
              </a:spcAft>
            </a:pPr>
            <a:r>
              <a:rPr sz="1400" b="0">
                <a:solidFill>
                  <a:srgbClr val="1C1915"/>
                </a:solidFill>
                <a:latin typeface="Calibri"/>
                <a:ea typeface="Calibri"/>
                <a:cs typeface="Calibri"/>
              </a:rPr>
              <a:t>This is before the cut gate. The gate did not make these pieces.</a:t>
            </a:r>
          </a:p>
          <a:p>
            <a:pPr algn="l">
              <a:spcBef>
                <a:spcPts val="0"/>
              </a:spcBef>
              <a:spcAft>
                <a:spcPts val="400"/>
              </a:spcAft>
            </a:pPr>
            <a:r>
              <a:rPr sz="1400" b="0">
                <a:solidFill>
                  <a:srgbClr val="1C1915"/>
                </a:solidFill>
                <a:latin typeface="Calibri"/>
                <a:ea typeface="Calibri"/>
                <a:cs typeface="Calibri"/>
              </a:rPr>
              <a:t>The same day, before the test, Ishida passed two checks: Unit 5 at 600 g, and 200 / 400 / 600 g.</a:t>
            </a:r>
          </a:p>
        </p:txBody>
      </p:sp>
      <p:sp>
        <p:nvSpPr>
          <p:cNvPr id="8" name="Rectangle 7"/>
          <p:cNvSpPr/>
          <p:nvPr/>
        </p:nvSpPr>
        <p:spPr>
          <a:xfrm>
            <a:off x="7818120" y="1143000"/>
            <a:ext cx="3977639" cy="5120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280160"/>
            <a:ext cx="3703320" cy="4846320"/>
          </a:xfrm>
          <a:prstGeom prst="rect">
            <a:avLst/>
          </a:prstGeom>
          <a:noFill/>
        </p:spPr>
        <p:txBody>
          <a:bodyPr wrap="square" anchor="t"/>
          <a:lstStyle/>
          <a:p>
            <a:pPr algn="l">
              <a:spcBef>
                <a:spcPts val="0"/>
              </a:spcBef>
              <a:spcAft>
                <a:spcPts val="400"/>
              </a:spcAft>
            </a:pPr>
            <a:r>
              <a:rPr sz="1200" b="1">
                <a:solidFill>
                  <a:srgbClr val="1E4D78"/>
                </a:solidFill>
                <a:latin typeface="Calibri"/>
                <a:ea typeface="Calibri"/>
                <a:cs typeface="Calibri"/>
              </a:rPr>
              <a:t>ROOT CAUSE</a:t>
            </a:r>
          </a:p>
          <a:p>
            <a:pPr algn="l">
              <a:spcBef>
                <a:spcPts val="0"/>
              </a:spcBef>
              <a:spcAft>
                <a:spcPts val="400"/>
              </a:spcAft>
            </a:pPr>
            <a:r>
              <a:rPr sz="1300" b="0">
                <a:solidFill>
                  <a:srgbClr val="1C1915"/>
                </a:solidFill>
                <a:latin typeface="Calibri"/>
                <a:ea typeface="Calibri"/>
                <a:cs typeface="Calibri"/>
              </a:rPr>
              <a:t>Seen: the lumps entered as lumps. The hopper did not break them.</a:t>
            </a:r>
          </a:p>
          <a:p>
            <a:pPr algn="l">
              <a:spcBef>
                <a:spcPts val="0"/>
              </a:spcBef>
              <a:spcAft>
                <a:spcPts val="400"/>
              </a:spcAft>
            </a:pPr>
            <a:r>
              <a:rPr sz="1300" b="0">
                <a:solidFill>
                  <a:srgbClr val="1C1915"/>
                </a:solidFill>
                <a:latin typeface="Calibri"/>
                <a:ea typeface="Calibri"/>
                <a:cs typeface="Calibri"/>
              </a:rPr>
              <a:t>Seen: static weights passed at 200, 400, and 600 g. Weights pass and real powder does not. The difference is flow, not the load cell.</a:t>
            </a:r>
          </a:p>
          <a:p>
            <a:pPr algn="l">
              <a:spcBef>
                <a:spcPts val="0"/>
              </a:spcBef>
              <a:spcAft>
                <a:spcPts val="400"/>
              </a:spcAft>
            </a:pPr>
            <a:r>
              <a:rPr sz="1300" b="0">
                <a:solidFill>
                  <a:srgbClr val="1C1915"/>
                </a:solidFill>
                <a:latin typeface="Calibri"/>
                <a:ea typeface="Calibri"/>
                <a:cs typeface="Calibri"/>
              </a:rPr>
              <a:t>Inferred: this lot was not screened or delumped before the Ishida. Vibration time was added after the gate was already blocked.</a:t>
            </a:r>
          </a:p>
          <a:p>
            <a:pPr algn="l">
              <a:spcBef>
                <a:spcPts val="0"/>
              </a:spcBef>
              <a:spcAft>
                <a:spcPts val="400"/>
              </a:spcAft>
            </a:pPr>
            <a:r>
              <a:rPr sz="1300" b="1">
                <a:solidFill>
                  <a:srgbClr val="1C1915"/>
                </a:solidFill>
                <a:latin typeface="Calibri"/>
                <a:ea typeface="Calibri"/>
                <a:cs typeface="Calibri"/>
              </a:rPr>
              <a:t>Common cause: issues 1, 2, and 3 leave from here.</a:t>
            </a:r>
          </a:p>
        </p:txBody>
      </p:sp>
      <p:sp>
        <p:nvSpPr>
          <p:cNvPr id="10" name="TextBox 9"/>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Calibration is the line record · lumps are video WA0006</a:t>
            </a:r>
          </a:p>
        </p:txBody>
      </p:sp>
      <p:sp>
        <p:nvSpPr>
          <p:cNvPr id="11" name="TextBox 10"/>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NEXT STEP</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What is already done, and what has not closed the cause</a:t>
            </a:r>
          </a:p>
        </p:txBody>
      </p:sp>
      <p:sp>
        <p:nvSpPr>
          <p:cNvPr id="5" name="Rectangle 4"/>
          <p:cNvSpPr/>
          <p:nvPr/>
        </p:nvSpPr>
        <p:spPr>
          <a:xfrm>
            <a:off x="384048" y="1143000"/>
            <a:ext cx="5623560" cy="41605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160"/>
            <a:ext cx="5303520" cy="3886200"/>
          </a:xfrm>
          <a:prstGeom prst="rect">
            <a:avLst/>
          </a:prstGeom>
          <a:noFill/>
        </p:spPr>
        <p:txBody>
          <a:bodyPr wrap="square" anchor="t"/>
          <a:lstStyle/>
          <a:p>
            <a:pPr algn="l">
              <a:spcBef>
                <a:spcPts val="0"/>
              </a:spcBef>
              <a:spcAft>
                <a:spcPts val="400"/>
              </a:spcAft>
            </a:pPr>
            <a:r>
              <a:rPr sz="1600" b="1">
                <a:solidFill>
                  <a:srgbClr val="0E6B45"/>
                </a:solidFill>
                <a:latin typeface="Calibri"/>
                <a:ea typeface="Calibri"/>
                <a:cs typeface="Calibri"/>
              </a:rPr>
              <a:t>Already done this run</a:t>
            </a:r>
          </a:p>
          <a:p>
            <a:pPr algn="l">
              <a:spcBef>
                <a:spcPts val="0"/>
              </a:spcBef>
              <a:spcAft>
                <a:spcPts val="400"/>
              </a:spcAft>
            </a:pPr>
            <a:r>
              <a:rPr sz="1400" b="0">
                <a:solidFill>
                  <a:srgbClr val="1C1915"/>
                </a:solidFill>
                <a:latin typeface="Calibri"/>
                <a:ea typeface="Calibri"/>
                <a:cs typeface="Calibri"/>
              </a:rPr>
              <a:t>Unit 5 calibrated at 600 g. Checks at 200 / 400 / 600 g passed. The load cell is cleared.</a:t>
            </a:r>
          </a:p>
          <a:p>
            <a:pPr algn="l">
              <a:spcBef>
                <a:spcPts val="0"/>
              </a:spcBef>
              <a:spcAft>
                <a:spcPts val="400"/>
              </a:spcAft>
            </a:pPr>
            <a:r>
              <a:rPr sz="1400" b="0">
                <a:solidFill>
                  <a:srgbClr val="1C1915"/>
                </a:solidFill>
                <a:latin typeface="Calibri"/>
                <a:ea typeface="Calibri"/>
                <a:cs typeface="Calibri"/>
              </a:rPr>
              <a:t>After the cut gate blocked, vibration time was lengthened. That is containment.</a:t>
            </a:r>
          </a:p>
          <a:p>
            <a:pPr algn="l">
              <a:spcBef>
                <a:spcPts val="0"/>
              </a:spcBef>
              <a:spcAft>
                <a:spcPts val="400"/>
              </a:spcAft>
            </a:pPr>
            <a:r>
              <a:rPr sz="1400" b="0">
                <a:solidFill>
                  <a:srgbClr val="1C1915"/>
                </a:solidFill>
                <a:latin typeface="Calibri"/>
                <a:ea typeface="Calibri"/>
                <a:cs typeface="Calibri"/>
              </a:rPr>
              <a:t>The room was logged: 20.67°C, 31.6% RH, inside spec.</a:t>
            </a:r>
          </a:p>
          <a:p>
            <a:pPr algn="l">
              <a:spcBef>
                <a:spcPts val="0"/>
              </a:spcBef>
              <a:spcAft>
                <a:spcPts val="400"/>
              </a:spcAft>
            </a:pPr>
            <a:r>
              <a:rPr sz="1400" b="0">
                <a:solidFill>
                  <a:srgbClr val="1C1915"/>
                </a:solidFill>
                <a:latin typeface="Calibri"/>
                <a:ea typeface="Calibri"/>
                <a:cs typeface="Calibri"/>
              </a:rPr>
              <a:t>The 50 Ishida lines were kept. On-screen statistics are 0. Use the lines.</a:t>
            </a:r>
          </a:p>
        </p:txBody>
      </p:sp>
      <p:sp>
        <p:nvSpPr>
          <p:cNvPr id="7" name="Rectangle 6"/>
          <p:cNvSpPr/>
          <p:nvPr/>
        </p:nvSpPr>
        <p:spPr>
          <a:xfrm>
            <a:off x="6172200" y="1143000"/>
            <a:ext cx="5623560" cy="41605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80160"/>
            <a:ext cx="5303520" cy="3886200"/>
          </a:xfrm>
          <a:prstGeom prst="rect">
            <a:avLst/>
          </a:prstGeom>
          <a:noFill/>
        </p:spPr>
        <p:txBody>
          <a:bodyPr wrap="square" anchor="t"/>
          <a:lstStyle/>
          <a:p>
            <a:pPr algn="l">
              <a:spcBef>
                <a:spcPts val="0"/>
              </a:spcBef>
              <a:spcAft>
                <a:spcPts val="400"/>
              </a:spcAft>
            </a:pPr>
            <a:r>
              <a:rPr sz="1600" b="1">
                <a:solidFill>
                  <a:srgbClr val="9A3B12"/>
                </a:solidFill>
                <a:latin typeface="Calibri"/>
                <a:ea typeface="Calibri"/>
                <a:cs typeface="Calibri"/>
              </a:rPr>
              <a:t>Close these before the next run</a:t>
            </a:r>
          </a:p>
          <a:p>
            <a:pPr algn="l">
              <a:spcBef>
                <a:spcPts val="0"/>
              </a:spcBef>
              <a:spcAft>
                <a:spcPts val="400"/>
              </a:spcAft>
            </a:pPr>
            <a:r>
              <a:rPr sz="1300" b="0">
                <a:solidFill>
                  <a:srgbClr val="1C1915"/>
                </a:solidFill>
                <a:latin typeface="Calibri"/>
                <a:ea typeface="Calibri"/>
                <a:cs typeface="Calibri"/>
              </a:rPr>
              <a:t>1  Screen or delump before the hopper. Vibration time does not replace that.</a:t>
            </a:r>
          </a:p>
          <a:p>
            <a:pPr algn="l">
              <a:spcBef>
                <a:spcPts val="0"/>
              </a:spcBef>
              <a:spcAft>
                <a:spcPts val="400"/>
              </a:spcAft>
            </a:pPr>
            <a:r>
              <a:rPr sz="1300" b="0">
                <a:solidFill>
                  <a:srgbClr val="1C1915"/>
                </a:solidFill>
                <a:latin typeface="Calibri"/>
                <a:ea typeface="Calibri"/>
                <a:cs typeface="Calibri"/>
              </a:rPr>
              <a:t>2  Photograph the empty chute and hopper after cleaning. Check again after 10 bags.</a:t>
            </a:r>
          </a:p>
          <a:p>
            <a:pPr algn="l">
              <a:spcBef>
                <a:spcPts val="0"/>
              </a:spcBef>
              <a:spcAft>
                <a:spcPts val="400"/>
              </a:spcAft>
            </a:pPr>
            <a:r>
              <a:rPr sz="1300" b="0">
                <a:solidFill>
                  <a:srgbClr val="1C1915"/>
                </a:solidFill>
                <a:latin typeface="Calibri"/>
                <a:ea typeface="Calibri"/>
                <a:cs typeface="Calibri"/>
              </a:rPr>
              <a:t>3  Record Ishida and MT on the same bag, with empty-bag tare, for at least 10 bags.</a:t>
            </a:r>
          </a:p>
          <a:p>
            <a:pPr algn="l">
              <a:spcBef>
                <a:spcPts val="0"/>
              </a:spcBef>
              <a:spcAft>
                <a:spcPts val="400"/>
              </a:spcAft>
            </a:pPr>
            <a:r>
              <a:rPr sz="1300" b="0">
                <a:solidFill>
                  <a:srgbClr val="1C1915"/>
                </a:solidFill>
                <a:latin typeface="Calibri"/>
                <a:ea typeface="Calibri"/>
                <a:cs typeface="Calibri"/>
              </a:rPr>
              <a:t>4  Rerun after the vibration change. Bag 1 should not be another 203.4 g.</a:t>
            </a:r>
          </a:p>
          <a:p>
            <a:pPr algn="l">
              <a:spcBef>
                <a:spcPts val="0"/>
              </a:spcBef>
              <a:spcAft>
                <a:spcPts val="400"/>
              </a:spcAft>
            </a:pPr>
            <a:r>
              <a:rPr sz="1300" b="0">
                <a:solidFill>
                  <a:srgbClr val="1C1915"/>
                </a:solidFill>
                <a:latin typeface="Calibri"/>
                <a:ea typeface="Calibri"/>
                <a:cs typeface="Calibri"/>
              </a:rPr>
              <a:t>5  Reconcile T.Count 56 with the 50 bags. Name the extra 6 dumps.</a:t>
            </a:r>
          </a:p>
          <a:p>
            <a:pPr algn="l">
              <a:spcBef>
                <a:spcPts val="0"/>
              </a:spcBef>
              <a:spcAft>
                <a:spcPts val="400"/>
              </a:spcAft>
            </a:pPr>
            <a:r>
              <a:rPr sz="1300" b="0">
                <a:solidFill>
                  <a:srgbClr val="1C1915"/>
                </a:solidFill>
                <a:latin typeface="Calibri"/>
                <a:ea typeface="Calibri"/>
                <a:cs typeface="Calibri"/>
              </a:rPr>
              <a:t>6  Add lump condition and raw-material moisture to the batch record.</a:t>
            </a:r>
          </a:p>
        </p:txBody>
      </p:sp>
      <p:sp>
        <p:nvSpPr>
          <p:cNvPr id="9" name="Rectangle 8"/>
          <p:cNvSpPr/>
          <p:nvPr/>
        </p:nvSpPr>
        <p:spPr>
          <a:xfrm>
            <a:off x="384048" y="5440680"/>
            <a:ext cx="11411712" cy="868680"/>
          </a:xfrm>
          <a:prstGeom prst="rect">
            <a:avLst/>
          </a:prstGeom>
          <a:solidFill>
            <a:srgbClr val="1B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577840"/>
            <a:ext cx="11109960" cy="640080"/>
          </a:xfrm>
          <a:prstGeom prst="rect">
            <a:avLst/>
          </a:prstGeom>
          <a:noFill/>
        </p:spPr>
        <p:txBody>
          <a:bodyPr wrap="square" anchor="t"/>
          <a:lstStyle/>
          <a:p>
            <a:pPr algn="l">
              <a:spcBef>
                <a:spcPts val="0"/>
              </a:spcBef>
              <a:spcAft>
                <a:spcPts val="400"/>
              </a:spcAft>
            </a:pPr>
            <a:r>
              <a:rPr sz="1500" b="0">
                <a:solidFill>
                  <a:srgbClr val="FFFCF7"/>
                </a:solidFill>
                <a:latin typeface="Calibri"/>
                <a:ea typeface="Calibri"/>
                <a:cs typeface="Calibri"/>
              </a:rPr>
              <a:t>Next run, two checks only: bag 1 is no longer an outlier, and on the same bag, after tare, the Ishida–MT gap matches the powder left on the gate.</a:t>
            </a:r>
          </a:p>
        </p:txBody>
      </p:sp>
      <p:sp>
        <p:nvSpPr>
          <p:cNvPr id="11" name="TextBox 10"/>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Containment is not the same as a closed root cause</a:t>
            </a:r>
          </a:p>
        </p:txBody>
      </p:sp>
      <p:sp>
        <p:nvSpPr>
          <p:cNvPr id="12" name="TextBox 11"/>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9144000" cy="256032"/>
          </a:xfrm>
          <a:prstGeom prst="rect">
            <a:avLst/>
          </a:prstGeom>
          <a:noFill/>
        </p:spPr>
        <p:txBody>
          <a:bodyPr wrap="square" anchor="t"/>
          <a:lstStyle/>
          <a:p>
            <a:pPr algn="l">
              <a:spcBef>
                <a:spcPts val="0"/>
              </a:spcBef>
              <a:spcAft>
                <a:spcPts val="400"/>
              </a:spcAft>
            </a:pPr>
            <a:r>
              <a:rPr sz="1100" b="1">
                <a:solidFill>
                  <a:srgbClr val="5E584F"/>
                </a:solidFill>
                <a:latin typeface="Calibri"/>
                <a:ea typeface="Calibri"/>
                <a:cs typeface="Calibri"/>
              </a:rPr>
              <a:t>EVIDENCE AND LIMITS</a:t>
            </a:r>
          </a:p>
        </p:txBody>
      </p:sp>
      <p:sp>
        <p:nvSpPr>
          <p:cNvPr id="4" name="TextBox 3"/>
          <p:cNvSpPr txBox="1"/>
          <p:nvPr/>
        </p:nvSpPr>
        <p:spPr>
          <a:xfrm>
            <a:off x="384048" y="420624"/>
            <a:ext cx="11338560" cy="502920"/>
          </a:xfrm>
          <a:prstGeom prst="rect">
            <a:avLst/>
          </a:prstGeom>
          <a:noFill/>
        </p:spPr>
        <p:txBody>
          <a:bodyPr wrap="square" anchor="t"/>
          <a:lstStyle/>
          <a:p>
            <a:pPr algn="l">
              <a:spcBef>
                <a:spcPts val="0"/>
              </a:spcBef>
              <a:spcAft>
                <a:spcPts val="400"/>
              </a:spcAft>
            </a:pPr>
            <a:r>
              <a:rPr sz="2600" b="1">
                <a:solidFill>
                  <a:srgbClr val="1C1915"/>
                </a:solidFill>
                <a:latin typeface="Calibri"/>
                <a:ea typeface="Calibri"/>
                <a:cs typeface="Calibri"/>
              </a:rPr>
              <a:t>What this briefing uses, and what it leaves open</a:t>
            </a:r>
          </a:p>
        </p:txBody>
      </p:sp>
      <p:sp>
        <p:nvSpPr>
          <p:cNvPr id="5" name="Rectangle 4"/>
          <p:cNvSpPr/>
          <p:nvPr/>
        </p:nvSpPr>
        <p:spPr>
          <a:xfrm>
            <a:off x="384048" y="1097280"/>
            <a:ext cx="5669280" cy="5212080"/>
          </a:xfrm>
          <a:prstGeom prst="rect">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234440"/>
            <a:ext cx="5394960" cy="4937760"/>
          </a:xfrm>
          <a:prstGeom prst="rect">
            <a:avLst/>
          </a:prstGeom>
          <a:noFill/>
        </p:spPr>
        <p:txBody>
          <a:bodyPr wrap="square" anchor="t"/>
          <a:lstStyle/>
          <a:p>
            <a:pPr algn="l">
              <a:spcBef>
                <a:spcPts val="0"/>
              </a:spcBef>
              <a:spcAft>
                <a:spcPts val="400"/>
              </a:spcAft>
            </a:pPr>
            <a:r>
              <a:rPr sz="1400" b="1">
                <a:solidFill>
                  <a:srgbClr val="9A3B12"/>
                </a:solidFill>
                <a:latin typeface="Calibri"/>
                <a:ea typeface="Calibri"/>
                <a:cs typeface="Calibri"/>
              </a:rPr>
              <a:t>Evidence used</a:t>
            </a:r>
          </a:p>
          <a:p>
            <a:pPr algn="l">
              <a:spcBef>
                <a:spcPts val="0"/>
              </a:spcBef>
              <a:spcAft>
                <a:spcPts val="400"/>
              </a:spcAft>
            </a:pPr>
            <a:r>
              <a:rPr sz="1300" b="0">
                <a:solidFill>
                  <a:srgbClr val="1C1915"/>
                </a:solidFill>
                <a:latin typeface="Calibri"/>
                <a:ea typeface="Calibri"/>
                <a:cs typeface="Calibri"/>
              </a:rPr>
              <a:t>Filling-line photo, 1 Oct 2026, 09:28.</a:t>
            </a:r>
          </a:p>
          <a:p>
            <a:pPr algn="l">
              <a:spcBef>
                <a:spcPts val="0"/>
              </a:spcBef>
              <a:spcAft>
                <a:spcPts val="400"/>
              </a:spcAft>
            </a:pPr>
            <a:r>
              <a:rPr sz="1300" b="0">
                <a:solidFill>
                  <a:srgbClr val="1C1915"/>
                </a:solidFill>
                <a:latin typeface="Calibri"/>
                <a:ea typeface="Calibri"/>
                <a:cs typeface="Calibri"/>
              </a:rPr>
              <a:t>HOBO: 20.67°C, 31.6% RH. Limits 19–27°C and 30–40%.</a:t>
            </a:r>
          </a:p>
          <a:p>
            <a:pPr algn="l">
              <a:spcBef>
                <a:spcPts val="0"/>
              </a:spcBef>
              <a:spcAft>
                <a:spcPts val="400"/>
              </a:spcAft>
            </a:pPr>
            <a:r>
              <a:rPr sz="1300" b="0">
                <a:solidFill>
                  <a:srgbClr val="1C1915"/>
                </a:solidFill>
                <a:latin typeface="Calibri"/>
                <a:ea typeface="Calibri"/>
                <a:cs typeface="Calibri"/>
              </a:rPr>
              <a:t>Ishida bags 1–50, T.Weight 11.2 kg, T.Count 56, CLR 10:44, machine time 11:38. Statistics are 0; figures were recomputed from the lines.</a:t>
            </a:r>
          </a:p>
          <a:p>
            <a:pPr algn="l">
              <a:spcBef>
                <a:spcPts val="0"/>
              </a:spcBef>
              <a:spcAft>
                <a:spcPts val="400"/>
              </a:spcAft>
            </a:pPr>
            <a:r>
              <a:rPr sz="1300" b="0">
                <a:solidFill>
                  <a:srgbClr val="1C1915"/>
                </a:solidFill>
                <a:latin typeface="Calibri"/>
                <a:ea typeface="Calibri"/>
                <a:cs typeface="Calibri"/>
              </a:rPr>
              <a:t>Inside wall of the discharge chute, 11:57.</a:t>
            </a:r>
          </a:p>
          <a:p>
            <a:pPr algn="l">
              <a:spcBef>
                <a:spcPts val="0"/>
              </a:spcBef>
              <a:spcAft>
                <a:spcPts val="400"/>
              </a:spcAft>
            </a:pPr>
            <a:r>
              <a:rPr sz="1300" b="0">
                <a:solidFill>
                  <a:srgbClr val="1C1915"/>
                </a:solidFill>
                <a:latin typeface="Calibri"/>
                <a:ea typeface="Calibri"/>
                <a:cs typeface="Calibri"/>
              </a:rPr>
              <a:t>Video WA0006, 6 seconds, lumps in the weigh hopper.</a:t>
            </a:r>
          </a:p>
          <a:p>
            <a:pPr algn="l">
              <a:spcBef>
                <a:spcPts val="0"/>
              </a:spcBef>
              <a:spcAft>
                <a:spcPts val="400"/>
              </a:spcAft>
            </a:pPr>
            <a:r>
              <a:rPr sz="1300" b="0">
                <a:solidFill>
                  <a:srgbClr val="1C1915"/>
                </a:solidFill>
                <a:latin typeface="Calibri"/>
                <a:ea typeface="Calibri"/>
                <a:cs typeface="Calibri"/>
              </a:rPr>
              <a:t>Video WA0004, 10 seconds, powder on the infeed grate. A muffled word around 3 seconds sounds like “discharge” and is not a formal record.</a:t>
            </a:r>
          </a:p>
          <a:p>
            <a:pPr algn="l">
              <a:spcBef>
                <a:spcPts val="0"/>
              </a:spcBef>
              <a:spcAft>
                <a:spcPts val="400"/>
              </a:spcAft>
            </a:pPr>
            <a:r>
              <a:rPr sz="1300" b="0">
                <a:solidFill>
                  <a:srgbClr val="1C1915"/>
                </a:solidFill>
                <a:latin typeface="Calibri"/>
                <a:ea typeface="Calibri"/>
                <a:cs typeface="Calibri"/>
              </a:rPr>
              <a:t>Line account: first three bags disagree; lumps blocked the gate and vibration was lengthened; powder stuck on the gate and hopper; calibration and the three-point check passed.</a:t>
            </a:r>
          </a:p>
        </p:txBody>
      </p:sp>
      <p:sp>
        <p:nvSpPr>
          <p:cNvPr id="7" name="Rectangle 6"/>
          <p:cNvSpPr/>
          <p:nvPr/>
        </p:nvSpPr>
        <p:spPr>
          <a:xfrm>
            <a:off x="6217920" y="1097280"/>
            <a:ext cx="5577840" cy="521208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4224" y="1234440"/>
            <a:ext cx="5303520" cy="4937760"/>
          </a:xfrm>
          <a:prstGeom prst="rect">
            <a:avLst/>
          </a:prstGeom>
          <a:noFill/>
        </p:spPr>
        <p:txBody>
          <a:bodyPr wrap="square" anchor="t"/>
          <a:lstStyle/>
          <a:p>
            <a:pPr algn="l">
              <a:spcBef>
                <a:spcPts val="0"/>
              </a:spcBef>
              <a:spcAft>
                <a:spcPts val="400"/>
              </a:spcAft>
            </a:pPr>
            <a:r>
              <a:rPr sz="1400" b="1">
                <a:solidFill>
                  <a:srgbClr val="1E4D78"/>
                </a:solidFill>
                <a:latin typeface="Calibri"/>
                <a:ea typeface="Calibri"/>
                <a:cs typeface="Calibri"/>
              </a:rPr>
              <a:t>Left unsolved on purpose</a:t>
            </a:r>
          </a:p>
          <a:p>
            <a:pPr algn="l">
              <a:spcBef>
                <a:spcPts val="0"/>
              </a:spcBef>
              <a:spcAft>
                <a:spcPts val="400"/>
              </a:spcAft>
            </a:pPr>
            <a:r>
              <a:rPr sz="1300" b="0">
                <a:solidFill>
                  <a:srgbClr val="1C1915"/>
                </a:solidFill>
                <a:latin typeface="Calibri"/>
                <a:ea typeface="Calibri"/>
                <a:cs typeface="Calibri"/>
              </a:rPr>
              <a:t>The three MT gram values. They are not in the photos or videos. The gap is not guessed.</a:t>
            </a:r>
          </a:p>
          <a:p>
            <a:pPr algn="l">
              <a:spcBef>
                <a:spcPts val="0"/>
              </a:spcBef>
              <a:spcAft>
                <a:spcPts val="400"/>
              </a:spcAft>
            </a:pPr>
            <a:r>
              <a:rPr sz="1300" b="0">
                <a:solidFill>
                  <a:srgbClr val="1C1915"/>
                </a:solidFill>
                <a:latin typeface="Calibri"/>
                <a:ea typeface="Calibri"/>
                <a:cs typeface="Calibri"/>
              </a:rPr>
              <a:t>Vibration time in seconds, before and after, and whether the 11:27 lines are before or after the change.</a:t>
            </a:r>
          </a:p>
          <a:p>
            <a:pPr algn="l">
              <a:spcBef>
                <a:spcPts val="0"/>
              </a:spcBef>
              <a:spcAft>
                <a:spcPts val="400"/>
              </a:spcAft>
            </a:pPr>
            <a:r>
              <a:rPr sz="1300" b="0">
                <a:solidFill>
                  <a:srgbClr val="1C1915"/>
                </a:solidFill>
                <a:latin typeface="Calibri"/>
                <a:ea typeface="Calibri"/>
                <a:cs typeface="Calibri"/>
              </a:rPr>
              <a:t>A written bag-weight tolerance. Without a spec, 201.03 g is not called pass or fail.</a:t>
            </a:r>
          </a:p>
          <a:p>
            <a:pPr algn="l">
              <a:spcBef>
                <a:spcPts val="0"/>
              </a:spcBef>
              <a:spcAft>
                <a:spcPts val="400"/>
              </a:spcAft>
            </a:pPr>
            <a:r>
              <a:rPr sz="1300" b="0">
                <a:solidFill>
                  <a:srgbClr val="1C1915"/>
                </a:solidFill>
                <a:latin typeface="Calibri"/>
                <a:ea typeface="Calibri"/>
                <a:cs typeface="Calibri"/>
              </a:rPr>
              <a:t>What the 6 extra dumps inside T.Count 56 are.</a:t>
            </a:r>
          </a:p>
          <a:p>
            <a:pPr algn="l">
              <a:spcBef>
                <a:spcPts val="0"/>
              </a:spcBef>
              <a:spcAft>
                <a:spcPts val="400"/>
              </a:spcAft>
            </a:pPr>
            <a:r>
              <a:rPr sz="1300" b="0">
                <a:solidFill>
                  <a:srgbClr val="1C1915"/>
                </a:solidFill>
                <a:latin typeface="Calibri"/>
                <a:ea typeface="Calibri"/>
                <a:cs typeface="Calibri"/>
              </a:rPr>
              <a:t>Whether the fine specks on the lower chute are powder or dry wash marks. That needs an empty-chute photo.</a:t>
            </a:r>
          </a:p>
          <a:p>
            <a:pPr algn="l">
              <a:spcBef>
                <a:spcPts val="0"/>
              </a:spcBef>
              <a:spcAft>
                <a:spcPts val="400"/>
              </a:spcAft>
            </a:pPr>
            <a:r>
              <a:rPr sz="1300" b="0">
                <a:solidFill>
                  <a:srgbClr val="1C1915"/>
                </a:solidFill>
                <a:latin typeface="Calibri"/>
                <a:ea typeface="Calibri"/>
                <a:cs typeface="Calibri"/>
              </a:rPr>
              <a:t>Both videos are of a stopped machine. Neither shows the jam, nor discharge after the vibration change.</a:t>
            </a:r>
          </a:p>
          <a:p>
            <a:pPr algn="l">
              <a:spcBef>
                <a:spcPts val="0"/>
              </a:spcBef>
              <a:spcAft>
                <a:spcPts val="400"/>
              </a:spcAft>
            </a:pPr>
            <a:r>
              <a:rPr sz="1300" b="1">
                <a:solidFill>
                  <a:srgbClr val="1C1915"/>
                </a:solidFill>
                <a:latin typeface="Calibri"/>
                <a:ea typeface="Calibri"/>
                <a:cs typeface="Calibri"/>
              </a:rPr>
              <a:t>50 bags total 10,051.6 g. Mean 201.032 g, SD 0.600 g, median 200.95 g.</a:t>
            </a:r>
          </a:p>
        </p:txBody>
      </p:sp>
      <p:sp>
        <p:nvSpPr>
          <p:cNvPr id="9" name="TextBox 8"/>
          <p:cNvSpPr txBox="1"/>
          <p:nvPr/>
        </p:nvSpPr>
        <p:spPr>
          <a:xfrm>
            <a:off x="365760" y="6510528"/>
            <a:ext cx="8229600" cy="256032"/>
          </a:xfrm>
          <a:prstGeom prst="rect">
            <a:avLst/>
          </a:prstGeom>
          <a:noFill/>
        </p:spPr>
        <p:txBody>
          <a:bodyPr wrap="square" anchor="t"/>
          <a:lstStyle/>
          <a:p>
            <a:pPr algn="l">
              <a:spcBef>
                <a:spcPts val="0"/>
              </a:spcBef>
              <a:spcAft>
                <a:spcPts val="400"/>
              </a:spcAft>
            </a:pPr>
            <a:r>
              <a:rPr sz="1000" b="0">
                <a:solidFill>
                  <a:srgbClr val="5E584F"/>
                </a:solidFill>
                <a:latin typeface="Calibri"/>
                <a:ea typeface="Calibri"/>
                <a:cs typeface="Calibri"/>
              </a:rPr>
              <a:t>1 Oct 2026 · SDA 1 L first run · issues and root causes</a:t>
            </a:r>
          </a:p>
        </p:txBody>
      </p:sp>
      <p:sp>
        <p:nvSpPr>
          <p:cNvPr id="10" name="TextBox 9"/>
          <p:cNvSpPr txBox="1"/>
          <p:nvPr/>
        </p:nvSpPr>
        <p:spPr>
          <a:xfrm>
            <a:off x="10424160" y="6510528"/>
            <a:ext cx="1371600" cy="256032"/>
          </a:xfrm>
          <a:prstGeom prst="rect">
            <a:avLst/>
          </a:prstGeom>
          <a:noFill/>
        </p:spPr>
        <p:txBody>
          <a:bodyPr wrap="square" anchor="t"/>
          <a:lstStyle/>
          <a:p>
            <a:pPr algn="r">
              <a:spcBef>
                <a:spcPts val="0"/>
              </a:spcBef>
              <a:spcAft>
                <a:spcPts val="400"/>
              </a:spcAft>
            </a:pPr>
            <a:r>
              <a:rPr sz="1000" b="0">
                <a:solidFill>
                  <a:srgbClr val="5E584F"/>
                </a:solidFill>
                <a:latin typeface="Calibri"/>
                <a:ea typeface="Calibri"/>
                <a:cs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2026/10/01 SDA 1 L filling test — issues and root causes</dc:title>
  <dc:subject>First run, 50 bags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